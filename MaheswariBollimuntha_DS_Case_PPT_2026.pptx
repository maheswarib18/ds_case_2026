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16"/>
  </p:notesMasterIdLst>
  <p:sldIdLst>
    <p:sldId id="270" r:id="rId2"/>
    <p:sldId id="273" r:id="rId3"/>
    <p:sldId id="276" r:id="rId4"/>
    <p:sldId id="285" r:id="rId5"/>
    <p:sldId id="288" r:id="rId6"/>
    <p:sldId id="283" r:id="rId7"/>
    <p:sldId id="284" r:id="rId8"/>
    <p:sldId id="287" r:id="rId9"/>
    <p:sldId id="281" r:id="rId10"/>
    <p:sldId id="286" r:id="rId11"/>
    <p:sldId id="291" r:id="rId12"/>
    <p:sldId id="263" r:id="rId13"/>
    <p:sldId id="289"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A1C402-6E2C-E87F-BCBC-9033C03D303C}" v="196" dt="2026-03-22T13:30:11.400"/>
    <p1510:client id="{0B01DF06-C848-BA84-4609-95374EAE3CA4}" v="241" dt="2026-03-23T01:59:00.974"/>
    <p1510:client id="{0D2289FB-5A0F-9110-78D8-A8500899247F}" v="163" dt="2026-03-23T01:42:13.126"/>
    <p1510:client id="{1E37BD12-0091-81D7-EF21-5CB3EDD4986C}" v="1315" dt="2026-03-23T01:26:19.190"/>
    <p1510:client id="{3E095AAD-1A65-A2BC-85E4-6EBF298DE1F1}" v="24" dt="2026-03-22T17:27:03.283"/>
    <p1510:client id="{77B9FD07-152A-63A6-5A07-1F6A0262E2EA}" v="187" dt="2026-03-23T02:46:05.941"/>
    <p1510:client id="{8A7E6B7E-964F-7354-214D-94773371B217}" v="13" dt="2026-03-23T03:02:10.253"/>
    <p1510:client id="{B898F5B9-99B3-FC74-7999-A521D22F2B23}" v="21" dt="2026-03-23T03:08:05.854"/>
    <p1510:client id="{BA3514A9-7D0B-7D46-F386-0A00C7F6B537}" v="835" dt="2026-03-22T16:57:32.537"/>
    <p1510:client id="{BAC50E83-664E-A023-D46A-ECCCE6ABF486}" v="159" dt="2026-03-23T02:28:35.315"/>
    <p1510:client id="{C12AC770-5492-020C-436B-470E5F8218AB}" v="248" dt="2026-03-22T18:01:15.631"/>
    <p1510:client id="{C1FE15C2-4672-0EC2-B13C-C209B6B7258A}" v="283" dt="2026-03-23T02:12:13.1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BF265C-B93C-4853-A598-4433D8C46B87}"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0936054-6614-4D19-8EC9-5FE08566B9C7}">
      <dgm:prSet/>
      <dgm:spPr/>
      <dgm:t>
        <a:bodyPr/>
        <a:lstStyle/>
        <a:p>
          <a:r>
            <a:rPr lang="en-US"/>
            <a:t>In Dell’s manufacturing process, the kit phase requires gathering all components before production, but its completion time varies due to product complexity, order size, and factory conditions. This variability makes it difficult to accurately predict completion timelines and plan production efficiently</a:t>
          </a:r>
        </a:p>
      </dgm:t>
    </dgm:pt>
    <dgm:pt modelId="{1A76BB0D-8436-4274-9BD1-E131811306EC}" type="parTrans" cxnId="{2998E223-426F-4213-B972-6A4C009F8D9E}">
      <dgm:prSet/>
      <dgm:spPr/>
      <dgm:t>
        <a:bodyPr/>
        <a:lstStyle/>
        <a:p>
          <a:endParaRPr lang="en-US"/>
        </a:p>
      </dgm:t>
    </dgm:pt>
    <dgm:pt modelId="{02FFB05D-31A6-42D1-880F-D94BC5EC1121}" type="sibTrans" cxnId="{2998E223-426F-4213-B972-6A4C009F8D9E}">
      <dgm:prSet/>
      <dgm:spPr/>
      <dgm:t>
        <a:bodyPr/>
        <a:lstStyle/>
        <a:p>
          <a:endParaRPr lang="en-US"/>
        </a:p>
      </dgm:t>
    </dgm:pt>
    <dgm:pt modelId="{5FFAE707-AFD5-4F4C-AB55-97D1375EF7CE}">
      <dgm:prSet/>
      <dgm:spPr/>
      <dgm:t>
        <a:bodyPr/>
        <a:lstStyle/>
        <a:p>
          <a:r>
            <a:rPr lang="en-US"/>
            <a:t>The objective is to develop a machine learning model to predict kit cycle time and estimate the expected completion date using historical order data, product processing times, and factory calendar and capacity information.</a:t>
          </a:r>
        </a:p>
      </dgm:t>
    </dgm:pt>
    <dgm:pt modelId="{5701772B-BAB7-433E-BA43-DC66E325E7E9}" type="parTrans" cxnId="{18680D5D-871D-4846-AB12-5966FAE814C8}">
      <dgm:prSet/>
      <dgm:spPr/>
      <dgm:t>
        <a:bodyPr/>
        <a:lstStyle/>
        <a:p>
          <a:endParaRPr lang="en-US"/>
        </a:p>
      </dgm:t>
    </dgm:pt>
    <dgm:pt modelId="{A8A94257-5439-4CA4-800B-1FD0B787F3A8}" type="sibTrans" cxnId="{18680D5D-871D-4846-AB12-5966FAE814C8}">
      <dgm:prSet/>
      <dgm:spPr/>
      <dgm:t>
        <a:bodyPr/>
        <a:lstStyle/>
        <a:p>
          <a:endParaRPr lang="en-US"/>
        </a:p>
      </dgm:t>
    </dgm:pt>
    <dgm:pt modelId="{37D85EAE-64FF-4C37-9D67-5FB442CFB6FA}" type="pres">
      <dgm:prSet presAssocID="{ACBF265C-B93C-4853-A598-4433D8C46B87}" presName="hierChild1" presStyleCnt="0">
        <dgm:presLayoutVars>
          <dgm:chPref val="1"/>
          <dgm:dir/>
          <dgm:animOne val="branch"/>
          <dgm:animLvl val="lvl"/>
          <dgm:resizeHandles/>
        </dgm:presLayoutVars>
      </dgm:prSet>
      <dgm:spPr/>
    </dgm:pt>
    <dgm:pt modelId="{4D128FDA-1A3D-4F9E-BEA6-8B5FAF123BD4}" type="pres">
      <dgm:prSet presAssocID="{B0936054-6614-4D19-8EC9-5FE08566B9C7}" presName="hierRoot1" presStyleCnt="0"/>
      <dgm:spPr/>
    </dgm:pt>
    <dgm:pt modelId="{EBBA1A03-6908-4103-924E-841448D0B26E}" type="pres">
      <dgm:prSet presAssocID="{B0936054-6614-4D19-8EC9-5FE08566B9C7}" presName="composite" presStyleCnt="0"/>
      <dgm:spPr/>
    </dgm:pt>
    <dgm:pt modelId="{55786751-42FD-44F0-A8B0-773CB3380BC2}" type="pres">
      <dgm:prSet presAssocID="{B0936054-6614-4D19-8EC9-5FE08566B9C7}" presName="background" presStyleLbl="node0" presStyleIdx="0" presStyleCnt="2"/>
      <dgm:spPr/>
    </dgm:pt>
    <dgm:pt modelId="{3CA4CE95-C214-44E6-B230-E14D145B9600}" type="pres">
      <dgm:prSet presAssocID="{B0936054-6614-4D19-8EC9-5FE08566B9C7}" presName="text" presStyleLbl="fgAcc0" presStyleIdx="0" presStyleCnt="2">
        <dgm:presLayoutVars>
          <dgm:chPref val="3"/>
        </dgm:presLayoutVars>
      </dgm:prSet>
      <dgm:spPr/>
    </dgm:pt>
    <dgm:pt modelId="{22FBE802-6497-4F55-A8D1-E8FEBE01ADEB}" type="pres">
      <dgm:prSet presAssocID="{B0936054-6614-4D19-8EC9-5FE08566B9C7}" presName="hierChild2" presStyleCnt="0"/>
      <dgm:spPr/>
    </dgm:pt>
    <dgm:pt modelId="{20C8C3F1-37CF-4E44-AE44-BD95EE5EFDE4}" type="pres">
      <dgm:prSet presAssocID="{5FFAE707-AFD5-4F4C-AB55-97D1375EF7CE}" presName="hierRoot1" presStyleCnt="0"/>
      <dgm:spPr/>
    </dgm:pt>
    <dgm:pt modelId="{7FE6FF6A-1B16-4ACD-8D9D-8EE5936B6738}" type="pres">
      <dgm:prSet presAssocID="{5FFAE707-AFD5-4F4C-AB55-97D1375EF7CE}" presName="composite" presStyleCnt="0"/>
      <dgm:spPr/>
    </dgm:pt>
    <dgm:pt modelId="{0C28B000-F55C-44AD-B108-E8A957A7E726}" type="pres">
      <dgm:prSet presAssocID="{5FFAE707-AFD5-4F4C-AB55-97D1375EF7CE}" presName="background" presStyleLbl="node0" presStyleIdx="1" presStyleCnt="2"/>
      <dgm:spPr/>
    </dgm:pt>
    <dgm:pt modelId="{7D81F41D-C8AA-4A1B-82B5-F00CE46FE58E}" type="pres">
      <dgm:prSet presAssocID="{5FFAE707-AFD5-4F4C-AB55-97D1375EF7CE}" presName="text" presStyleLbl="fgAcc0" presStyleIdx="1" presStyleCnt="2">
        <dgm:presLayoutVars>
          <dgm:chPref val="3"/>
        </dgm:presLayoutVars>
      </dgm:prSet>
      <dgm:spPr/>
    </dgm:pt>
    <dgm:pt modelId="{A5587BE5-EF0B-45A4-B9CC-A948B182269C}" type="pres">
      <dgm:prSet presAssocID="{5FFAE707-AFD5-4F4C-AB55-97D1375EF7CE}" presName="hierChild2" presStyleCnt="0"/>
      <dgm:spPr/>
    </dgm:pt>
  </dgm:ptLst>
  <dgm:cxnLst>
    <dgm:cxn modelId="{D5F1D90D-1D44-4FC2-9CC0-AD20F1CD46C2}" type="presOf" srcId="{ACBF265C-B93C-4853-A598-4433D8C46B87}" destId="{37D85EAE-64FF-4C37-9D67-5FB442CFB6FA}" srcOrd="0" destOrd="0" presId="urn:microsoft.com/office/officeart/2005/8/layout/hierarchy1"/>
    <dgm:cxn modelId="{2998E223-426F-4213-B972-6A4C009F8D9E}" srcId="{ACBF265C-B93C-4853-A598-4433D8C46B87}" destId="{B0936054-6614-4D19-8EC9-5FE08566B9C7}" srcOrd="0" destOrd="0" parTransId="{1A76BB0D-8436-4274-9BD1-E131811306EC}" sibTransId="{02FFB05D-31A6-42D1-880F-D94BC5EC1121}"/>
    <dgm:cxn modelId="{18680D5D-871D-4846-AB12-5966FAE814C8}" srcId="{ACBF265C-B93C-4853-A598-4433D8C46B87}" destId="{5FFAE707-AFD5-4F4C-AB55-97D1375EF7CE}" srcOrd="1" destOrd="0" parTransId="{5701772B-BAB7-433E-BA43-DC66E325E7E9}" sibTransId="{A8A94257-5439-4CA4-800B-1FD0B787F3A8}"/>
    <dgm:cxn modelId="{DBA62F94-302E-41AA-BB5A-79383B04CA3D}" type="presOf" srcId="{B0936054-6614-4D19-8EC9-5FE08566B9C7}" destId="{3CA4CE95-C214-44E6-B230-E14D145B9600}" srcOrd="0" destOrd="0" presId="urn:microsoft.com/office/officeart/2005/8/layout/hierarchy1"/>
    <dgm:cxn modelId="{40AC0DCC-EC68-467F-944E-80ADCE9B04B9}" type="presOf" srcId="{5FFAE707-AFD5-4F4C-AB55-97D1375EF7CE}" destId="{7D81F41D-C8AA-4A1B-82B5-F00CE46FE58E}" srcOrd="0" destOrd="0" presId="urn:microsoft.com/office/officeart/2005/8/layout/hierarchy1"/>
    <dgm:cxn modelId="{E822913E-BC2B-4DBF-9B04-F09D59231B9C}" type="presParOf" srcId="{37D85EAE-64FF-4C37-9D67-5FB442CFB6FA}" destId="{4D128FDA-1A3D-4F9E-BEA6-8B5FAF123BD4}" srcOrd="0" destOrd="0" presId="urn:microsoft.com/office/officeart/2005/8/layout/hierarchy1"/>
    <dgm:cxn modelId="{ECA6FFAB-7117-4ECA-85B9-845790E7C911}" type="presParOf" srcId="{4D128FDA-1A3D-4F9E-BEA6-8B5FAF123BD4}" destId="{EBBA1A03-6908-4103-924E-841448D0B26E}" srcOrd="0" destOrd="0" presId="urn:microsoft.com/office/officeart/2005/8/layout/hierarchy1"/>
    <dgm:cxn modelId="{9D14D0AC-A6DD-495E-B87D-E4A34FABF749}" type="presParOf" srcId="{EBBA1A03-6908-4103-924E-841448D0B26E}" destId="{55786751-42FD-44F0-A8B0-773CB3380BC2}" srcOrd="0" destOrd="0" presId="urn:microsoft.com/office/officeart/2005/8/layout/hierarchy1"/>
    <dgm:cxn modelId="{A17F85D9-31AA-4D4E-BE82-55E55090E293}" type="presParOf" srcId="{EBBA1A03-6908-4103-924E-841448D0B26E}" destId="{3CA4CE95-C214-44E6-B230-E14D145B9600}" srcOrd="1" destOrd="0" presId="urn:microsoft.com/office/officeart/2005/8/layout/hierarchy1"/>
    <dgm:cxn modelId="{B8448C30-E565-4710-B1C7-328A16F924DA}" type="presParOf" srcId="{4D128FDA-1A3D-4F9E-BEA6-8B5FAF123BD4}" destId="{22FBE802-6497-4F55-A8D1-E8FEBE01ADEB}" srcOrd="1" destOrd="0" presId="urn:microsoft.com/office/officeart/2005/8/layout/hierarchy1"/>
    <dgm:cxn modelId="{488B8BD5-C7C7-4EAD-A09C-2FFECE99B652}" type="presParOf" srcId="{37D85EAE-64FF-4C37-9D67-5FB442CFB6FA}" destId="{20C8C3F1-37CF-4E44-AE44-BD95EE5EFDE4}" srcOrd="1" destOrd="0" presId="urn:microsoft.com/office/officeart/2005/8/layout/hierarchy1"/>
    <dgm:cxn modelId="{1223299A-ACC5-4129-ABB6-9F001E04A174}" type="presParOf" srcId="{20C8C3F1-37CF-4E44-AE44-BD95EE5EFDE4}" destId="{7FE6FF6A-1B16-4ACD-8D9D-8EE5936B6738}" srcOrd="0" destOrd="0" presId="urn:microsoft.com/office/officeart/2005/8/layout/hierarchy1"/>
    <dgm:cxn modelId="{92D8DFAE-DBFA-47ED-8F53-FE81D41BB0F9}" type="presParOf" srcId="{7FE6FF6A-1B16-4ACD-8D9D-8EE5936B6738}" destId="{0C28B000-F55C-44AD-B108-E8A957A7E726}" srcOrd="0" destOrd="0" presId="urn:microsoft.com/office/officeart/2005/8/layout/hierarchy1"/>
    <dgm:cxn modelId="{F60EE750-A3F9-473C-8096-2FA050EDFA21}" type="presParOf" srcId="{7FE6FF6A-1B16-4ACD-8D9D-8EE5936B6738}" destId="{7D81F41D-C8AA-4A1B-82B5-F00CE46FE58E}" srcOrd="1" destOrd="0" presId="urn:microsoft.com/office/officeart/2005/8/layout/hierarchy1"/>
    <dgm:cxn modelId="{14144DCF-1C67-4D1F-941D-20629A4AAE2B}" type="presParOf" srcId="{20C8C3F1-37CF-4E44-AE44-BD95EE5EFDE4}" destId="{A5587BE5-EF0B-45A4-B9CC-A948B182269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E80E57-9CCE-4856-8492-2FB235DB2AA5}" type="doc">
      <dgm:prSet loTypeId="urn:microsoft.com/office/officeart/2018/2/layout/IconCircleList" loCatId="icon" qsTypeId="urn:microsoft.com/office/officeart/2005/8/quickstyle/simple1" qsCatId="simple" csTypeId="urn:microsoft.com/office/officeart/2018/5/colors/Iconchunking_neutralbg_colorful5" csCatId="colorful" phldr="1"/>
      <dgm:spPr/>
      <dgm:t>
        <a:bodyPr/>
        <a:lstStyle/>
        <a:p>
          <a:endParaRPr lang="en-US"/>
        </a:p>
      </dgm:t>
    </dgm:pt>
    <dgm:pt modelId="{F3273F5C-EE60-4E1D-813B-C7A2B5B1FE44}">
      <dgm:prSet/>
      <dgm:spPr/>
      <dgm:t>
        <a:bodyPr/>
        <a:lstStyle/>
        <a:p>
          <a:pPr>
            <a:lnSpc>
              <a:spcPct val="100000"/>
            </a:lnSpc>
          </a:pPr>
          <a:r>
            <a:rPr lang="en-US">
              <a:latin typeface="Gill Sans MT"/>
              <a:ea typeface="Calibri"/>
              <a:cs typeface="Calibri"/>
            </a:rPr>
            <a:t>Data Preparation and cleaning</a:t>
          </a:r>
          <a:endParaRPr lang="en-US">
            <a:latin typeface="Gill Sans MT"/>
          </a:endParaRPr>
        </a:p>
      </dgm:t>
    </dgm:pt>
    <dgm:pt modelId="{1909AA26-E7E7-4DBD-99B5-2D4EB69BA999}" type="parTrans" cxnId="{32FCFFFE-B009-4675-BFB9-3F2D99C940B6}">
      <dgm:prSet/>
      <dgm:spPr/>
      <dgm:t>
        <a:bodyPr/>
        <a:lstStyle/>
        <a:p>
          <a:endParaRPr lang="en-US"/>
        </a:p>
      </dgm:t>
    </dgm:pt>
    <dgm:pt modelId="{5521589D-D32F-4CD3-B524-2FBEEBD5FA36}" type="sibTrans" cxnId="{32FCFFFE-B009-4675-BFB9-3F2D99C940B6}">
      <dgm:prSet/>
      <dgm:spPr/>
      <dgm:t>
        <a:bodyPr/>
        <a:lstStyle/>
        <a:p>
          <a:pPr>
            <a:lnSpc>
              <a:spcPct val="100000"/>
            </a:lnSpc>
          </a:pPr>
          <a:endParaRPr lang="en-US"/>
        </a:p>
      </dgm:t>
    </dgm:pt>
    <dgm:pt modelId="{9DE90A52-0137-400D-9AB6-03DA1F79E676}">
      <dgm:prSet/>
      <dgm:spPr/>
      <dgm:t>
        <a:bodyPr/>
        <a:lstStyle/>
        <a:p>
          <a:pPr>
            <a:lnSpc>
              <a:spcPct val="100000"/>
            </a:lnSpc>
          </a:pPr>
          <a:r>
            <a:rPr lang="en-US">
              <a:latin typeface="Gill Sans MT"/>
              <a:ea typeface="Calibri"/>
              <a:cs typeface="Calibri"/>
            </a:rPr>
            <a:t>Feature Engineering</a:t>
          </a:r>
          <a:endParaRPr lang="en-US">
            <a:latin typeface="Gill Sans MT"/>
          </a:endParaRPr>
        </a:p>
      </dgm:t>
    </dgm:pt>
    <dgm:pt modelId="{0FEE531F-3291-4169-88A7-F42E211ED747}" type="parTrans" cxnId="{5A7F14D0-23EA-49DF-BE8C-F15DCAEE0D8B}">
      <dgm:prSet/>
      <dgm:spPr/>
      <dgm:t>
        <a:bodyPr/>
        <a:lstStyle/>
        <a:p>
          <a:endParaRPr lang="en-US"/>
        </a:p>
      </dgm:t>
    </dgm:pt>
    <dgm:pt modelId="{1DD4E3B7-9C7A-48AB-AC53-A9D992AE75FA}" type="sibTrans" cxnId="{5A7F14D0-23EA-49DF-BE8C-F15DCAEE0D8B}">
      <dgm:prSet/>
      <dgm:spPr/>
      <dgm:t>
        <a:bodyPr/>
        <a:lstStyle/>
        <a:p>
          <a:pPr>
            <a:lnSpc>
              <a:spcPct val="100000"/>
            </a:lnSpc>
          </a:pPr>
          <a:endParaRPr lang="en-US"/>
        </a:p>
      </dgm:t>
    </dgm:pt>
    <dgm:pt modelId="{832A4D53-D7FE-47DC-81E2-3B86B1F36EB6}">
      <dgm:prSet/>
      <dgm:spPr/>
      <dgm:t>
        <a:bodyPr/>
        <a:lstStyle/>
        <a:p>
          <a:pPr>
            <a:lnSpc>
              <a:spcPct val="100000"/>
            </a:lnSpc>
          </a:pPr>
          <a:r>
            <a:rPr lang="en-IN">
              <a:latin typeface="Gill Sans MT"/>
              <a:ea typeface="Calibri"/>
              <a:cs typeface="Calibri"/>
            </a:rPr>
            <a:t>Model Development</a:t>
          </a:r>
          <a:endParaRPr lang="en-US"/>
        </a:p>
      </dgm:t>
    </dgm:pt>
    <dgm:pt modelId="{E6791CD6-5344-48CC-82FF-0D2F5A6838C5}" type="parTrans" cxnId="{DBD35E23-CDC2-4764-8A9B-83225DF97F2E}">
      <dgm:prSet/>
      <dgm:spPr/>
      <dgm:t>
        <a:bodyPr/>
        <a:lstStyle/>
        <a:p>
          <a:endParaRPr lang="en-US"/>
        </a:p>
      </dgm:t>
    </dgm:pt>
    <dgm:pt modelId="{18852C99-011B-40B1-B552-FDD995328A59}" type="sibTrans" cxnId="{DBD35E23-CDC2-4764-8A9B-83225DF97F2E}">
      <dgm:prSet/>
      <dgm:spPr/>
      <dgm:t>
        <a:bodyPr/>
        <a:lstStyle/>
        <a:p>
          <a:pPr>
            <a:lnSpc>
              <a:spcPct val="100000"/>
            </a:lnSpc>
          </a:pPr>
          <a:endParaRPr lang="en-US"/>
        </a:p>
      </dgm:t>
    </dgm:pt>
    <dgm:pt modelId="{230D4F23-E785-4310-BF19-65A5F59BF81A}">
      <dgm:prSet/>
      <dgm:spPr/>
      <dgm:t>
        <a:bodyPr/>
        <a:lstStyle/>
        <a:p>
          <a:pPr>
            <a:lnSpc>
              <a:spcPct val="100000"/>
            </a:lnSpc>
          </a:pPr>
          <a:r>
            <a:rPr lang="en-US">
              <a:latin typeface="Gill Sans MT"/>
              <a:ea typeface="Calibri"/>
              <a:cs typeface="Calibri"/>
            </a:rPr>
            <a:t>Model Improvement</a:t>
          </a:r>
          <a:endParaRPr lang="en-US"/>
        </a:p>
      </dgm:t>
    </dgm:pt>
    <dgm:pt modelId="{0C62DC8A-57C7-4096-8B2D-F0C918253637}" type="parTrans" cxnId="{CE0F4E17-7CA1-428F-9049-DD49E4B3258B}">
      <dgm:prSet/>
      <dgm:spPr/>
      <dgm:t>
        <a:bodyPr/>
        <a:lstStyle/>
        <a:p>
          <a:endParaRPr lang="en-US"/>
        </a:p>
      </dgm:t>
    </dgm:pt>
    <dgm:pt modelId="{93F85324-2104-4942-BFF8-83AC70F18FC1}" type="sibTrans" cxnId="{CE0F4E17-7CA1-428F-9049-DD49E4B3258B}">
      <dgm:prSet/>
      <dgm:spPr/>
      <dgm:t>
        <a:bodyPr/>
        <a:lstStyle/>
        <a:p>
          <a:pPr>
            <a:lnSpc>
              <a:spcPct val="100000"/>
            </a:lnSpc>
          </a:pPr>
          <a:endParaRPr lang="en-US"/>
        </a:p>
      </dgm:t>
    </dgm:pt>
    <dgm:pt modelId="{DA55E39F-5AD7-4C04-95A5-AD5BF1209C98}">
      <dgm:prSet phldr="0"/>
      <dgm:spPr/>
      <dgm:t>
        <a:bodyPr/>
        <a:lstStyle/>
        <a:p>
          <a:pPr>
            <a:lnSpc>
              <a:spcPct val="100000"/>
            </a:lnSpc>
          </a:pPr>
          <a:r>
            <a:rPr lang="en-US">
              <a:latin typeface="Gill Sans MT" panose="020B0502020104020203"/>
            </a:rPr>
            <a:t>Insights and Recommendations</a:t>
          </a:r>
          <a:endParaRPr lang="en-US"/>
        </a:p>
      </dgm:t>
    </dgm:pt>
    <dgm:pt modelId="{7D5C214F-2863-4A17-9BE8-3A53BC71649B}" type="parTrans" cxnId="{BDA263D6-C3C7-40FF-B031-3FF49AB61189}">
      <dgm:prSet/>
      <dgm:spPr/>
      <dgm:t>
        <a:bodyPr/>
        <a:lstStyle/>
        <a:p>
          <a:endParaRPr lang="en-US"/>
        </a:p>
      </dgm:t>
    </dgm:pt>
    <dgm:pt modelId="{16D4EDC8-185A-495E-A687-2FE33F4FBDAF}" type="sibTrans" cxnId="{BDA263D6-C3C7-40FF-B031-3FF49AB61189}">
      <dgm:prSet/>
      <dgm:spPr/>
      <dgm:t>
        <a:bodyPr/>
        <a:lstStyle/>
        <a:p>
          <a:endParaRPr lang="en-US"/>
        </a:p>
      </dgm:t>
    </dgm:pt>
    <dgm:pt modelId="{8BF37C4B-707F-4F5A-9C9C-C446EA3E38BC}">
      <dgm:prSet phldr="0"/>
      <dgm:spPr/>
      <dgm:t>
        <a:bodyPr/>
        <a:lstStyle/>
        <a:p>
          <a:pPr>
            <a:lnSpc>
              <a:spcPct val="100000"/>
            </a:lnSpc>
          </a:pPr>
          <a:r>
            <a:rPr lang="en-US">
              <a:latin typeface="Gill Sans MT"/>
              <a:ea typeface="Calibri"/>
              <a:cs typeface="Calibri"/>
            </a:rPr>
            <a:t>Predictions </a:t>
          </a:r>
          <a:endParaRPr lang="en-US"/>
        </a:p>
      </dgm:t>
    </dgm:pt>
    <dgm:pt modelId="{EC5D4602-26F8-42F6-AAD0-93CD06C54040}" type="parTrans" cxnId="{EE722B05-1F8A-4223-8745-D891AE5773EA}">
      <dgm:prSet/>
      <dgm:spPr/>
    </dgm:pt>
    <dgm:pt modelId="{935527C8-3C89-46EA-BD36-22DA66652489}" type="sibTrans" cxnId="{EE722B05-1F8A-4223-8745-D891AE5773EA}">
      <dgm:prSet/>
      <dgm:spPr/>
      <dgm:t>
        <a:bodyPr/>
        <a:lstStyle/>
        <a:p>
          <a:pPr>
            <a:lnSpc>
              <a:spcPct val="100000"/>
            </a:lnSpc>
          </a:pPr>
          <a:endParaRPr lang="en-US"/>
        </a:p>
      </dgm:t>
    </dgm:pt>
    <dgm:pt modelId="{E90FE05A-FC58-47DD-A262-F092A1A4BAE7}" type="pres">
      <dgm:prSet presAssocID="{A7E80E57-9CCE-4856-8492-2FB235DB2AA5}" presName="root" presStyleCnt="0">
        <dgm:presLayoutVars>
          <dgm:dir/>
          <dgm:resizeHandles val="exact"/>
        </dgm:presLayoutVars>
      </dgm:prSet>
      <dgm:spPr/>
    </dgm:pt>
    <dgm:pt modelId="{A69C173C-DB83-4BFB-8B03-BFEBC6CBA0C1}" type="pres">
      <dgm:prSet presAssocID="{A7E80E57-9CCE-4856-8492-2FB235DB2AA5}" presName="container" presStyleCnt="0">
        <dgm:presLayoutVars>
          <dgm:dir/>
          <dgm:resizeHandles val="exact"/>
        </dgm:presLayoutVars>
      </dgm:prSet>
      <dgm:spPr/>
    </dgm:pt>
    <dgm:pt modelId="{2DB5483A-8DE6-4306-861D-9895D76DB68F}" type="pres">
      <dgm:prSet presAssocID="{F3273F5C-EE60-4E1D-813B-C7A2B5B1FE44}" presName="compNode" presStyleCnt="0"/>
      <dgm:spPr/>
    </dgm:pt>
    <dgm:pt modelId="{A9BEC3A4-1816-42A0-A510-F26AC92499A3}" type="pres">
      <dgm:prSet presAssocID="{F3273F5C-EE60-4E1D-813B-C7A2B5B1FE44}" presName="iconBgRect" presStyleLbl="bgShp" presStyleIdx="0" presStyleCnt="6"/>
      <dgm:spPr/>
    </dgm:pt>
    <dgm:pt modelId="{57FEA494-E3B3-4310-8E66-EF04CD078D5F}" type="pres">
      <dgm:prSet presAssocID="{F3273F5C-EE60-4E1D-813B-C7A2B5B1FE44}"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p and bucket"/>
        </a:ext>
      </dgm:extLst>
    </dgm:pt>
    <dgm:pt modelId="{22CB76FA-6E15-4845-8DE0-9AE932E96668}" type="pres">
      <dgm:prSet presAssocID="{F3273F5C-EE60-4E1D-813B-C7A2B5B1FE44}" presName="spaceRect" presStyleCnt="0"/>
      <dgm:spPr/>
    </dgm:pt>
    <dgm:pt modelId="{797F9269-31A1-4861-8407-B7574A41AF29}" type="pres">
      <dgm:prSet presAssocID="{F3273F5C-EE60-4E1D-813B-C7A2B5B1FE44}" presName="textRect" presStyleLbl="revTx" presStyleIdx="0" presStyleCnt="6">
        <dgm:presLayoutVars>
          <dgm:chMax val="1"/>
          <dgm:chPref val="1"/>
        </dgm:presLayoutVars>
      </dgm:prSet>
      <dgm:spPr/>
    </dgm:pt>
    <dgm:pt modelId="{59FA7703-D957-415C-AB83-D13CD331D672}" type="pres">
      <dgm:prSet presAssocID="{5521589D-D32F-4CD3-B524-2FBEEBD5FA36}" presName="sibTrans" presStyleLbl="sibTrans2D1" presStyleIdx="0" presStyleCnt="0"/>
      <dgm:spPr/>
    </dgm:pt>
    <dgm:pt modelId="{79A9A1A2-04DA-4300-A8AE-14C26A4FD834}" type="pres">
      <dgm:prSet presAssocID="{9DE90A52-0137-400D-9AB6-03DA1F79E676}" presName="compNode" presStyleCnt="0"/>
      <dgm:spPr/>
    </dgm:pt>
    <dgm:pt modelId="{F5E7CAA5-BD48-426D-979D-FFCF95D56869}" type="pres">
      <dgm:prSet presAssocID="{9DE90A52-0137-400D-9AB6-03DA1F79E676}" presName="iconBgRect" presStyleLbl="bgShp" presStyleIdx="1" presStyleCnt="6"/>
      <dgm:spPr/>
    </dgm:pt>
    <dgm:pt modelId="{EFF07829-1929-4AF1-8FA9-65B5C7FE457E}" type="pres">
      <dgm:prSet presAssocID="{9DE90A52-0137-400D-9AB6-03DA1F79E676}"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BDDC3C0C-09D5-426D-AACB-AF08E2BFD143}" type="pres">
      <dgm:prSet presAssocID="{9DE90A52-0137-400D-9AB6-03DA1F79E676}" presName="spaceRect" presStyleCnt="0"/>
      <dgm:spPr/>
    </dgm:pt>
    <dgm:pt modelId="{9BF14AFA-56B2-470D-B254-7B404387442A}" type="pres">
      <dgm:prSet presAssocID="{9DE90A52-0137-400D-9AB6-03DA1F79E676}" presName="textRect" presStyleLbl="revTx" presStyleIdx="1" presStyleCnt="6">
        <dgm:presLayoutVars>
          <dgm:chMax val="1"/>
          <dgm:chPref val="1"/>
        </dgm:presLayoutVars>
      </dgm:prSet>
      <dgm:spPr/>
    </dgm:pt>
    <dgm:pt modelId="{29537175-6982-47F1-A5B1-E1392EB0A462}" type="pres">
      <dgm:prSet presAssocID="{1DD4E3B7-9C7A-48AB-AC53-A9D992AE75FA}" presName="sibTrans" presStyleLbl="sibTrans2D1" presStyleIdx="0" presStyleCnt="0"/>
      <dgm:spPr/>
    </dgm:pt>
    <dgm:pt modelId="{BB6EFF6C-6170-428E-AC70-4EFAD8679B4A}" type="pres">
      <dgm:prSet presAssocID="{832A4D53-D7FE-47DC-81E2-3B86B1F36EB6}" presName="compNode" presStyleCnt="0"/>
      <dgm:spPr/>
    </dgm:pt>
    <dgm:pt modelId="{AEC4940A-3881-4053-BF5E-83B05993AE8A}" type="pres">
      <dgm:prSet presAssocID="{832A4D53-D7FE-47DC-81E2-3B86B1F36EB6}" presName="iconBgRect" presStyleLbl="bgShp" presStyleIdx="2" presStyleCnt="6"/>
      <dgm:spPr/>
    </dgm:pt>
    <dgm:pt modelId="{3BAD64D2-7B02-4CE7-A6F6-097FBE30052D}" type="pres">
      <dgm:prSet presAssocID="{832A4D53-D7FE-47DC-81E2-3B86B1F36EB6}"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Users"/>
        </a:ext>
      </dgm:extLst>
    </dgm:pt>
    <dgm:pt modelId="{8FCBC64C-7328-433D-BE94-74D31CBB1494}" type="pres">
      <dgm:prSet presAssocID="{832A4D53-D7FE-47DC-81E2-3B86B1F36EB6}" presName="spaceRect" presStyleCnt="0"/>
      <dgm:spPr/>
    </dgm:pt>
    <dgm:pt modelId="{82876624-0BE5-4ABE-9025-38B10C524F56}" type="pres">
      <dgm:prSet presAssocID="{832A4D53-D7FE-47DC-81E2-3B86B1F36EB6}" presName="textRect" presStyleLbl="revTx" presStyleIdx="2" presStyleCnt="6">
        <dgm:presLayoutVars>
          <dgm:chMax val="1"/>
          <dgm:chPref val="1"/>
        </dgm:presLayoutVars>
      </dgm:prSet>
      <dgm:spPr/>
    </dgm:pt>
    <dgm:pt modelId="{535858EB-6018-45EF-9DAE-5978595F384C}" type="pres">
      <dgm:prSet presAssocID="{18852C99-011B-40B1-B552-FDD995328A59}" presName="sibTrans" presStyleLbl="sibTrans2D1" presStyleIdx="0" presStyleCnt="0"/>
      <dgm:spPr/>
    </dgm:pt>
    <dgm:pt modelId="{044FB4E0-FE2C-4424-9CB0-60FB94B35B85}" type="pres">
      <dgm:prSet presAssocID="{230D4F23-E785-4310-BF19-65A5F59BF81A}" presName="compNode" presStyleCnt="0"/>
      <dgm:spPr/>
    </dgm:pt>
    <dgm:pt modelId="{087E057B-FF40-401B-9718-0B4D594A9088}" type="pres">
      <dgm:prSet presAssocID="{230D4F23-E785-4310-BF19-65A5F59BF81A}" presName="iconBgRect" presStyleLbl="bgShp" presStyleIdx="3" presStyleCnt="6"/>
      <dgm:spPr/>
    </dgm:pt>
    <dgm:pt modelId="{F70C9D6A-63DE-43DF-8E2C-36F1B2B5C3DB}" type="pres">
      <dgm:prSet presAssocID="{230D4F23-E785-4310-BF19-65A5F59BF81A}"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A4711253-53A3-41CD-B035-7C4C2C3FE408}" type="pres">
      <dgm:prSet presAssocID="{230D4F23-E785-4310-BF19-65A5F59BF81A}" presName="spaceRect" presStyleCnt="0"/>
      <dgm:spPr/>
    </dgm:pt>
    <dgm:pt modelId="{9CCE6D5C-7E2B-4352-9874-B05C0CDB7ED4}" type="pres">
      <dgm:prSet presAssocID="{230D4F23-E785-4310-BF19-65A5F59BF81A}" presName="textRect" presStyleLbl="revTx" presStyleIdx="3" presStyleCnt="6">
        <dgm:presLayoutVars>
          <dgm:chMax val="1"/>
          <dgm:chPref val="1"/>
        </dgm:presLayoutVars>
      </dgm:prSet>
      <dgm:spPr/>
    </dgm:pt>
    <dgm:pt modelId="{255CE071-C887-42F7-B9A9-3CC71418750A}" type="pres">
      <dgm:prSet presAssocID="{93F85324-2104-4942-BFF8-83AC70F18FC1}" presName="sibTrans" presStyleLbl="sibTrans2D1" presStyleIdx="0" presStyleCnt="0"/>
      <dgm:spPr/>
    </dgm:pt>
    <dgm:pt modelId="{16D7494A-7609-47E2-A402-D380F88E6BF6}" type="pres">
      <dgm:prSet presAssocID="{8BF37C4B-707F-4F5A-9C9C-C446EA3E38BC}" presName="compNode" presStyleCnt="0"/>
      <dgm:spPr/>
    </dgm:pt>
    <dgm:pt modelId="{CFF009DC-0F12-44E0-A5C0-07582800079D}" type="pres">
      <dgm:prSet presAssocID="{8BF37C4B-707F-4F5A-9C9C-C446EA3E38BC}" presName="iconBgRect" presStyleLbl="bgShp" presStyleIdx="4" presStyleCnt="6"/>
      <dgm:spPr/>
    </dgm:pt>
    <dgm:pt modelId="{B64D1573-3640-4B92-A68C-D06015C04993}" type="pres">
      <dgm:prSet presAssocID="{8BF37C4B-707F-4F5A-9C9C-C446EA3E38BC}" presName="iconRect" presStyleLbl="node1" presStyleIdx="4" presStyleCnt="6"/>
      <dgm:spPr>
        <a:blipFill>
          <a:blip xmlns:r="http://schemas.openxmlformats.org/officeDocument/2006/relationships" r:embed="rId5">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Nate Silver's Climate Chapter and What We Can Learn From It"/>
        </a:ext>
      </dgm:extLst>
    </dgm:pt>
    <dgm:pt modelId="{C170840D-F396-4352-A155-5553D6F25FD7}" type="pres">
      <dgm:prSet presAssocID="{8BF37C4B-707F-4F5A-9C9C-C446EA3E38BC}" presName="spaceRect" presStyleCnt="0"/>
      <dgm:spPr/>
    </dgm:pt>
    <dgm:pt modelId="{9E399F88-265F-444B-B6E6-68835E74FA0B}" type="pres">
      <dgm:prSet presAssocID="{8BF37C4B-707F-4F5A-9C9C-C446EA3E38BC}" presName="textRect" presStyleLbl="revTx" presStyleIdx="4" presStyleCnt="6">
        <dgm:presLayoutVars>
          <dgm:chMax val="1"/>
          <dgm:chPref val="1"/>
        </dgm:presLayoutVars>
      </dgm:prSet>
      <dgm:spPr/>
    </dgm:pt>
    <dgm:pt modelId="{318BEED1-E06C-43ED-8088-700E08577279}" type="pres">
      <dgm:prSet presAssocID="{935527C8-3C89-46EA-BD36-22DA66652489}" presName="sibTrans" presStyleLbl="sibTrans2D1" presStyleIdx="0" presStyleCnt="0"/>
      <dgm:spPr/>
    </dgm:pt>
    <dgm:pt modelId="{5C49D4A5-2648-456D-9880-6B53AB22011D}" type="pres">
      <dgm:prSet presAssocID="{DA55E39F-5AD7-4C04-95A5-AD5BF1209C98}" presName="compNode" presStyleCnt="0"/>
      <dgm:spPr/>
    </dgm:pt>
    <dgm:pt modelId="{C27C0C5A-1B09-42C8-8A75-EE464691B83F}" type="pres">
      <dgm:prSet presAssocID="{DA55E39F-5AD7-4C04-95A5-AD5BF1209C98}" presName="iconBgRect" presStyleLbl="bgShp" presStyleIdx="5" presStyleCnt="6"/>
      <dgm:spPr/>
    </dgm:pt>
    <dgm:pt modelId="{A0FB1091-EB03-4C73-819C-73ADC7FA4D2B}" type="pres">
      <dgm:prSet presAssocID="{DA55E39F-5AD7-4C04-95A5-AD5BF1209C98}"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ick"/>
        </a:ext>
      </dgm:extLst>
    </dgm:pt>
    <dgm:pt modelId="{7DEAC0B2-14D7-46B6-BB42-09BD886B983B}" type="pres">
      <dgm:prSet presAssocID="{DA55E39F-5AD7-4C04-95A5-AD5BF1209C98}" presName="spaceRect" presStyleCnt="0"/>
      <dgm:spPr/>
    </dgm:pt>
    <dgm:pt modelId="{5B149DB6-C585-444E-B951-83B8DCCC2718}" type="pres">
      <dgm:prSet presAssocID="{DA55E39F-5AD7-4C04-95A5-AD5BF1209C98}" presName="textRect" presStyleLbl="revTx" presStyleIdx="5" presStyleCnt="6">
        <dgm:presLayoutVars>
          <dgm:chMax val="1"/>
          <dgm:chPref val="1"/>
        </dgm:presLayoutVars>
      </dgm:prSet>
      <dgm:spPr/>
    </dgm:pt>
  </dgm:ptLst>
  <dgm:cxnLst>
    <dgm:cxn modelId="{EE722B05-1F8A-4223-8745-D891AE5773EA}" srcId="{A7E80E57-9CCE-4856-8492-2FB235DB2AA5}" destId="{8BF37C4B-707F-4F5A-9C9C-C446EA3E38BC}" srcOrd="4" destOrd="0" parTransId="{EC5D4602-26F8-42F6-AAD0-93CD06C54040}" sibTransId="{935527C8-3C89-46EA-BD36-22DA66652489}"/>
    <dgm:cxn modelId="{CE0F4E17-7CA1-428F-9049-DD49E4B3258B}" srcId="{A7E80E57-9CCE-4856-8492-2FB235DB2AA5}" destId="{230D4F23-E785-4310-BF19-65A5F59BF81A}" srcOrd="3" destOrd="0" parTransId="{0C62DC8A-57C7-4096-8B2D-F0C918253637}" sibTransId="{93F85324-2104-4942-BFF8-83AC70F18FC1}"/>
    <dgm:cxn modelId="{3B597219-18B0-4CB9-AF54-17DD09AC2503}" type="presOf" srcId="{1DD4E3B7-9C7A-48AB-AC53-A9D992AE75FA}" destId="{29537175-6982-47F1-A5B1-E1392EB0A462}" srcOrd="0" destOrd="0" presId="urn:microsoft.com/office/officeart/2018/2/layout/IconCircleList"/>
    <dgm:cxn modelId="{C4AF671B-2A9A-4140-92C0-EB29288860DD}" type="presOf" srcId="{8BF37C4B-707F-4F5A-9C9C-C446EA3E38BC}" destId="{9E399F88-265F-444B-B6E6-68835E74FA0B}" srcOrd="0" destOrd="0" presId="urn:microsoft.com/office/officeart/2018/2/layout/IconCircleList"/>
    <dgm:cxn modelId="{DBD35E23-CDC2-4764-8A9B-83225DF97F2E}" srcId="{A7E80E57-9CCE-4856-8492-2FB235DB2AA5}" destId="{832A4D53-D7FE-47DC-81E2-3B86B1F36EB6}" srcOrd="2" destOrd="0" parTransId="{E6791CD6-5344-48CC-82FF-0D2F5A6838C5}" sibTransId="{18852C99-011B-40B1-B552-FDD995328A59}"/>
    <dgm:cxn modelId="{DEC9593A-FDE5-44A8-81D4-9A37AB9BAEC2}" type="presOf" srcId="{832A4D53-D7FE-47DC-81E2-3B86B1F36EB6}" destId="{82876624-0BE5-4ABE-9025-38B10C524F56}" srcOrd="0" destOrd="0" presId="urn:microsoft.com/office/officeart/2018/2/layout/IconCircleList"/>
    <dgm:cxn modelId="{4E411D58-6729-43D9-A89E-5D14B38D7DE6}" type="presOf" srcId="{A7E80E57-9CCE-4856-8492-2FB235DB2AA5}" destId="{E90FE05A-FC58-47DD-A262-F092A1A4BAE7}" srcOrd="0" destOrd="0" presId="urn:microsoft.com/office/officeart/2018/2/layout/IconCircleList"/>
    <dgm:cxn modelId="{B1853959-C791-488F-8B3D-86BFFA3816CC}" type="presOf" srcId="{230D4F23-E785-4310-BF19-65A5F59BF81A}" destId="{9CCE6D5C-7E2B-4352-9874-B05C0CDB7ED4}" srcOrd="0" destOrd="0" presId="urn:microsoft.com/office/officeart/2018/2/layout/IconCircleList"/>
    <dgm:cxn modelId="{ACC8A090-B544-4FA1-9C49-56BB5E7CCD16}" type="presOf" srcId="{9DE90A52-0137-400D-9AB6-03DA1F79E676}" destId="{9BF14AFA-56B2-470D-B254-7B404387442A}" srcOrd="0" destOrd="0" presId="urn:microsoft.com/office/officeart/2018/2/layout/IconCircleList"/>
    <dgm:cxn modelId="{C653AD98-1218-45DB-B477-8D549FF03C97}" type="presOf" srcId="{F3273F5C-EE60-4E1D-813B-C7A2B5B1FE44}" destId="{797F9269-31A1-4861-8407-B7574A41AF29}" srcOrd="0" destOrd="0" presId="urn:microsoft.com/office/officeart/2018/2/layout/IconCircleList"/>
    <dgm:cxn modelId="{45452FA9-5316-490A-8DA4-B6228EE0F266}" type="presOf" srcId="{DA55E39F-5AD7-4C04-95A5-AD5BF1209C98}" destId="{5B149DB6-C585-444E-B951-83B8DCCC2718}" srcOrd="0" destOrd="0" presId="urn:microsoft.com/office/officeart/2018/2/layout/IconCircleList"/>
    <dgm:cxn modelId="{2345C3C6-D420-4FE0-8468-BC61C3E5F3CB}" type="presOf" srcId="{5521589D-D32F-4CD3-B524-2FBEEBD5FA36}" destId="{59FA7703-D957-415C-AB83-D13CD331D672}" srcOrd="0" destOrd="0" presId="urn:microsoft.com/office/officeart/2018/2/layout/IconCircleList"/>
    <dgm:cxn modelId="{5A7F14D0-23EA-49DF-BE8C-F15DCAEE0D8B}" srcId="{A7E80E57-9CCE-4856-8492-2FB235DB2AA5}" destId="{9DE90A52-0137-400D-9AB6-03DA1F79E676}" srcOrd="1" destOrd="0" parTransId="{0FEE531F-3291-4169-88A7-F42E211ED747}" sibTransId="{1DD4E3B7-9C7A-48AB-AC53-A9D992AE75FA}"/>
    <dgm:cxn modelId="{BDA263D6-C3C7-40FF-B031-3FF49AB61189}" srcId="{A7E80E57-9CCE-4856-8492-2FB235DB2AA5}" destId="{DA55E39F-5AD7-4C04-95A5-AD5BF1209C98}" srcOrd="5" destOrd="0" parTransId="{7D5C214F-2863-4A17-9BE8-3A53BC71649B}" sibTransId="{16D4EDC8-185A-495E-A687-2FE33F4FBDAF}"/>
    <dgm:cxn modelId="{83868CE2-6220-40AE-9146-7B3AE72C8C5F}" type="presOf" srcId="{935527C8-3C89-46EA-BD36-22DA66652489}" destId="{318BEED1-E06C-43ED-8088-700E08577279}" srcOrd="0" destOrd="0" presId="urn:microsoft.com/office/officeart/2018/2/layout/IconCircleList"/>
    <dgm:cxn modelId="{76D54CF1-41FD-4A9C-9739-7699677C180C}" type="presOf" srcId="{93F85324-2104-4942-BFF8-83AC70F18FC1}" destId="{255CE071-C887-42F7-B9A9-3CC71418750A}" srcOrd="0" destOrd="0" presId="urn:microsoft.com/office/officeart/2018/2/layout/IconCircleList"/>
    <dgm:cxn modelId="{5F6448F4-0A48-4AF3-B263-7CAD2FE91A28}" type="presOf" srcId="{18852C99-011B-40B1-B552-FDD995328A59}" destId="{535858EB-6018-45EF-9DAE-5978595F384C}" srcOrd="0" destOrd="0" presId="urn:microsoft.com/office/officeart/2018/2/layout/IconCircleList"/>
    <dgm:cxn modelId="{32FCFFFE-B009-4675-BFB9-3F2D99C940B6}" srcId="{A7E80E57-9CCE-4856-8492-2FB235DB2AA5}" destId="{F3273F5C-EE60-4E1D-813B-C7A2B5B1FE44}" srcOrd="0" destOrd="0" parTransId="{1909AA26-E7E7-4DBD-99B5-2D4EB69BA999}" sibTransId="{5521589D-D32F-4CD3-B524-2FBEEBD5FA36}"/>
    <dgm:cxn modelId="{92EF7C79-05B4-4409-8A51-618419F73869}" type="presParOf" srcId="{E90FE05A-FC58-47DD-A262-F092A1A4BAE7}" destId="{A69C173C-DB83-4BFB-8B03-BFEBC6CBA0C1}" srcOrd="0" destOrd="0" presId="urn:microsoft.com/office/officeart/2018/2/layout/IconCircleList"/>
    <dgm:cxn modelId="{EB7407CF-776A-4D12-AC98-DB9892A22DA2}" type="presParOf" srcId="{A69C173C-DB83-4BFB-8B03-BFEBC6CBA0C1}" destId="{2DB5483A-8DE6-4306-861D-9895D76DB68F}" srcOrd="0" destOrd="0" presId="urn:microsoft.com/office/officeart/2018/2/layout/IconCircleList"/>
    <dgm:cxn modelId="{6955DCD5-0FE6-4EA8-979D-2AB1E16ED375}" type="presParOf" srcId="{2DB5483A-8DE6-4306-861D-9895D76DB68F}" destId="{A9BEC3A4-1816-42A0-A510-F26AC92499A3}" srcOrd="0" destOrd="0" presId="urn:microsoft.com/office/officeart/2018/2/layout/IconCircleList"/>
    <dgm:cxn modelId="{75457DEA-A124-45F1-BBE8-AF58EBA00C83}" type="presParOf" srcId="{2DB5483A-8DE6-4306-861D-9895D76DB68F}" destId="{57FEA494-E3B3-4310-8E66-EF04CD078D5F}" srcOrd="1" destOrd="0" presId="urn:microsoft.com/office/officeart/2018/2/layout/IconCircleList"/>
    <dgm:cxn modelId="{A58B8071-17CC-4AD1-90D7-06ED4B431F8B}" type="presParOf" srcId="{2DB5483A-8DE6-4306-861D-9895D76DB68F}" destId="{22CB76FA-6E15-4845-8DE0-9AE932E96668}" srcOrd="2" destOrd="0" presId="urn:microsoft.com/office/officeart/2018/2/layout/IconCircleList"/>
    <dgm:cxn modelId="{77558AA2-4DCE-4C0E-8D86-555E809257AF}" type="presParOf" srcId="{2DB5483A-8DE6-4306-861D-9895D76DB68F}" destId="{797F9269-31A1-4861-8407-B7574A41AF29}" srcOrd="3" destOrd="0" presId="urn:microsoft.com/office/officeart/2018/2/layout/IconCircleList"/>
    <dgm:cxn modelId="{CEF2E2BF-C616-444A-AB03-88E91CD6799B}" type="presParOf" srcId="{A69C173C-DB83-4BFB-8B03-BFEBC6CBA0C1}" destId="{59FA7703-D957-415C-AB83-D13CD331D672}" srcOrd="1" destOrd="0" presId="urn:microsoft.com/office/officeart/2018/2/layout/IconCircleList"/>
    <dgm:cxn modelId="{7FF2A030-7668-4948-BB73-117C80E382B6}" type="presParOf" srcId="{A69C173C-DB83-4BFB-8B03-BFEBC6CBA0C1}" destId="{79A9A1A2-04DA-4300-A8AE-14C26A4FD834}" srcOrd="2" destOrd="0" presId="urn:microsoft.com/office/officeart/2018/2/layout/IconCircleList"/>
    <dgm:cxn modelId="{5D49A18F-F640-453B-BB6C-3975CF2DC9FF}" type="presParOf" srcId="{79A9A1A2-04DA-4300-A8AE-14C26A4FD834}" destId="{F5E7CAA5-BD48-426D-979D-FFCF95D56869}" srcOrd="0" destOrd="0" presId="urn:microsoft.com/office/officeart/2018/2/layout/IconCircleList"/>
    <dgm:cxn modelId="{C39F0B73-DA55-4C09-8D32-08C2A4514116}" type="presParOf" srcId="{79A9A1A2-04DA-4300-A8AE-14C26A4FD834}" destId="{EFF07829-1929-4AF1-8FA9-65B5C7FE457E}" srcOrd="1" destOrd="0" presId="urn:microsoft.com/office/officeart/2018/2/layout/IconCircleList"/>
    <dgm:cxn modelId="{E3F35141-7706-4C8E-A36D-4D4832E46AB8}" type="presParOf" srcId="{79A9A1A2-04DA-4300-A8AE-14C26A4FD834}" destId="{BDDC3C0C-09D5-426D-AACB-AF08E2BFD143}" srcOrd="2" destOrd="0" presId="urn:microsoft.com/office/officeart/2018/2/layout/IconCircleList"/>
    <dgm:cxn modelId="{F883552D-E7D9-4BB9-BB78-58006EF963EE}" type="presParOf" srcId="{79A9A1A2-04DA-4300-A8AE-14C26A4FD834}" destId="{9BF14AFA-56B2-470D-B254-7B404387442A}" srcOrd="3" destOrd="0" presId="urn:microsoft.com/office/officeart/2018/2/layout/IconCircleList"/>
    <dgm:cxn modelId="{5AFEC447-BB1A-46B7-AEAE-CB8F715DFC22}" type="presParOf" srcId="{A69C173C-DB83-4BFB-8B03-BFEBC6CBA0C1}" destId="{29537175-6982-47F1-A5B1-E1392EB0A462}" srcOrd="3" destOrd="0" presId="urn:microsoft.com/office/officeart/2018/2/layout/IconCircleList"/>
    <dgm:cxn modelId="{54D88A5B-0BCE-433D-B447-EB479F091E5A}" type="presParOf" srcId="{A69C173C-DB83-4BFB-8B03-BFEBC6CBA0C1}" destId="{BB6EFF6C-6170-428E-AC70-4EFAD8679B4A}" srcOrd="4" destOrd="0" presId="urn:microsoft.com/office/officeart/2018/2/layout/IconCircleList"/>
    <dgm:cxn modelId="{B46C903D-849B-4CEA-966C-817D3FE29C12}" type="presParOf" srcId="{BB6EFF6C-6170-428E-AC70-4EFAD8679B4A}" destId="{AEC4940A-3881-4053-BF5E-83B05993AE8A}" srcOrd="0" destOrd="0" presId="urn:microsoft.com/office/officeart/2018/2/layout/IconCircleList"/>
    <dgm:cxn modelId="{0F7C716E-9EFB-48C0-BA5A-034DA6446362}" type="presParOf" srcId="{BB6EFF6C-6170-428E-AC70-4EFAD8679B4A}" destId="{3BAD64D2-7B02-4CE7-A6F6-097FBE30052D}" srcOrd="1" destOrd="0" presId="urn:microsoft.com/office/officeart/2018/2/layout/IconCircleList"/>
    <dgm:cxn modelId="{1284DBC7-A5A8-43CB-BAE2-2AF9ED125DB2}" type="presParOf" srcId="{BB6EFF6C-6170-428E-AC70-4EFAD8679B4A}" destId="{8FCBC64C-7328-433D-BE94-74D31CBB1494}" srcOrd="2" destOrd="0" presId="urn:microsoft.com/office/officeart/2018/2/layout/IconCircleList"/>
    <dgm:cxn modelId="{50408B95-59A7-4549-A011-08A34C845076}" type="presParOf" srcId="{BB6EFF6C-6170-428E-AC70-4EFAD8679B4A}" destId="{82876624-0BE5-4ABE-9025-38B10C524F56}" srcOrd="3" destOrd="0" presId="urn:microsoft.com/office/officeart/2018/2/layout/IconCircleList"/>
    <dgm:cxn modelId="{C880D06A-CFD5-4524-8486-710CF14CC6D3}" type="presParOf" srcId="{A69C173C-DB83-4BFB-8B03-BFEBC6CBA0C1}" destId="{535858EB-6018-45EF-9DAE-5978595F384C}" srcOrd="5" destOrd="0" presId="urn:microsoft.com/office/officeart/2018/2/layout/IconCircleList"/>
    <dgm:cxn modelId="{31FEEDF4-219A-458E-B9B5-0C1D4D79543D}" type="presParOf" srcId="{A69C173C-DB83-4BFB-8B03-BFEBC6CBA0C1}" destId="{044FB4E0-FE2C-4424-9CB0-60FB94B35B85}" srcOrd="6" destOrd="0" presId="urn:microsoft.com/office/officeart/2018/2/layout/IconCircleList"/>
    <dgm:cxn modelId="{A7D93D1A-95B2-4463-93D2-D181B31DD3DC}" type="presParOf" srcId="{044FB4E0-FE2C-4424-9CB0-60FB94B35B85}" destId="{087E057B-FF40-401B-9718-0B4D594A9088}" srcOrd="0" destOrd="0" presId="urn:microsoft.com/office/officeart/2018/2/layout/IconCircleList"/>
    <dgm:cxn modelId="{3ADD0D60-D651-4F6F-80B2-302954B0AB74}" type="presParOf" srcId="{044FB4E0-FE2C-4424-9CB0-60FB94B35B85}" destId="{F70C9D6A-63DE-43DF-8E2C-36F1B2B5C3DB}" srcOrd="1" destOrd="0" presId="urn:microsoft.com/office/officeart/2018/2/layout/IconCircleList"/>
    <dgm:cxn modelId="{4F83811F-CB3E-4A2F-AEC4-0318C28EFE9B}" type="presParOf" srcId="{044FB4E0-FE2C-4424-9CB0-60FB94B35B85}" destId="{A4711253-53A3-41CD-B035-7C4C2C3FE408}" srcOrd="2" destOrd="0" presId="urn:microsoft.com/office/officeart/2018/2/layout/IconCircleList"/>
    <dgm:cxn modelId="{98E9DEA8-C15C-49EE-8685-011C2F42B81A}" type="presParOf" srcId="{044FB4E0-FE2C-4424-9CB0-60FB94B35B85}" destId="{9CCE6D5C-7E2B-4352-9874-B05C0CDB7ED4}" srcOrd="3" destOrd="0" presId="urn:microsoft.com/office/officeart/2018/2/layout/IconCircleList"/>
    <dgm:cxn modelId="{49CBABB9-996F-42C8-AA2E-5A4BC160A574}" type="presParOf" srcId="{A69C173C-DB83-4BFB-8B03-BFEBC6CBA0C1}" destId="{255CE071-C887-42F7-B9A9-3CC71418750A}" srcOrd="7" destOrd="0" presId="urn:microsoft.com/office/officeart/2018/2/layout/IconCircleList"/>
    <dgm:cxn modelId="{A9CDF02F-F4DE-46F7-93DC-8F1C9B944631}" type="presParOf" srcId="{A69C173C-DB83-4BFB-8B03-BFEBC6CBA0C1}" destId="{16D7494A-7609-47E2-A402-D380F88E6BF6}" srcOrd="8" destOrd="0" presId="urn:microsoft.com/office/officeart/2018/2/layout/IconCircleList"/>
    <dgm:cxn modelId="{B035B9F0-D261-4429-9F2A-A85E2C0A639B}" type="presParOf" srcId="{16D7494A-7609-47E2-A402-D380F88E6BF6}" destId="{CFF009DC-0F12-44E0-A5C0-07582800079D}" srcOrd="0" destOrd="0" presId="urn:microsoft.com/office/officeart/2018/2/layout/IconCircleList"/>
    <dgm:cxn modelId="{57BAF4E3-C8E8-4E95-8816-434549B3F2C4}" type="presParOf" srcId="{16D7494A-7609-47E2-A402-D380F88E6BF6}" destId="{B64D1573-3640-4B92-A68C-D06015C04993}" srcOrd="1" destOrd="0" presId="urn:microsoft.com/office/officeart/2018/2/layout/IconCircleList"/>
    <dgm:cxn modelId="{98D6426F-AAE6-4915-A77C-CBDFD4044D43}" type="presParOf" srcId="{16D7494A-7609-47E2-A402-D380F88E6BF6}" destId="{C170840D-F396-4352-A155-5553D6F25FD7}" srcOrd="2" destOrd="0" presId="urn:microsoft.com/office/officeart/2018/2/layout/IconCircleList"/>
    <dgm:cxn modelId="{85E3A834-7B33-436B-A3F5-4513A4798D2C}" type="presParOf" srcId="{16D7494A-7609-47E2-A402-D380F88E6BF6}" destId="{9E399F88-265F-444B-B6E6-68835E74FA0B}" srcOrd="3" destOrd="0" presId="urn:microsoft.com/office/officeart/2018/2/layout/IconCircleList"/>
    <dgm:cxn modelId="{AFC5C0D4-7F9C-4646-956E-80C9969FFA2B}" type="presParOf" srcId="{A69C173C-DB83-4BFB-8B03-BFEBC6CBA0C1}" destId="{318BEED1-E06C-43ED-8088-700E08577279}" srcOrd="9" destOrd="0" presId="urn:microsoft.com/office/officeart/2018/2/layout/IconCircleList"/>
    <dgm:cxn modelId="{F5645DAD-6FE0-4395-AE87-9F232CD3F98C}" type="presParOf" srcId="{A69C173C-DB83-4BFB-8B03-BFEBC6CBA0C1}" destId="{5C49D4A5-2648-456D-9880-6B53AB22011D}" srcOrd="10" destOrd="0" presId="urn:microsoft.com/office/officeart/2018/2/layout/IconCircleList"/>
    <dgm:cxn modelId="{1B5C29F2-94CB-4759-85B9-9CD229AAFEA4}" type="presParOf" srcId="{5C49D4A5-2648-456D-9880-6B53AB22011D}" destId="{C27C0C5A-1B09-42C8-8A75-EE464691B83F}" srcOrd="0" destOrd="0" presId="urn:microsoft.com/office/officeart/2018/2/layout/IconCircleList"/>
    <dgm:cxn modelId="{E2766AF8-7FB9-4712-900F-1F8B708BF3BF}" type="presParOf" srcId="{5C49D4A5-2648-456D-9880-6B53AB22011D}" destId="{A0FB1091-EB03-4C73-819C-73ADC7FA4D2B}" srcOrd="1" destOrd="0" presId="urn:microsoft.com/office/officeart/2018/2/layout/IconCircleList"/>
    <dgm:cxn modelId="{4011BE67-1C0E-403C-8DB9-70FC9D98B860}" type="presParOf" srcId="{5C49D4A5-2648-456D-9880-6B53AB22011D}" destId="{7DEAC0B2-14D7-46B6-BB42-09BD886B983B}" srcOrd="2" destOrd="0" presId="urn:microsoft.com/office/officeart/2018/2/layout/IconCircleList"/>
    <dgm:cxn modelId="{07464BCC-FA9E-4853-9562-2FD7A6388C70}" type="presParOf" srcId="{5C49D4A5-2648-456D-9880-6B53AB22011D}" destId="{5B149DB6-C585-444E-B951-83B8DCCC271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7AFDA29-62D0-491F-B9F1-FFBB5FD250E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47F4D49-D5C2-4074-92F6-D59823C47240}">
      <dgm:prSet/>
      <dgm:spPr/>
      <dgm:t>
        <a:bodyPr/>
        <a:lstStyle/>
        <a:p>
          <a:r>
            <a:rPr lang="en-GB" b="1"/>
            <a:t>DATASETS USED</a:t>
          </a:r>
          <a:r>
            <a:rPr lang="en-GB"/>
            <a:t>:</a:t>
          </a:r>
          <a:endParaRPr lang="en-US"/>
        </a:p>
      </dgm:t>
    </dgm:pt>
    <dgm:pt modelId="{931F861A-1601-41C2-B0E7-B9E2D2EF553A}" type="parTrans" cxnId="{98B56066-74FA-418B-A3A9-108D7605726B}">
      <dgm:prSet/>
      <dgm:spPr/>
      <dgm:t>
        <a:bodyPr/>
        <a:lstStyle/>
        <a:p>
          <a:endParaRPr lang="en-US"/>
        </a:p>
      </dgm:t>
    </dgm:pt>
    <dgm:pt modelId="{56ABC75C-F9A0-4D1B-B0DB-0157E42B3436}" type="sibTrans" cxnId="{98B56066-74FA-418B-A3A9-108D7605726B}">
      <dgm:prSet/>
      <dgm:spPr/>
      <dgm:t>
        <a:bodyPr/>
        <a:lstStyle/>
        <a:p>
          <a:endParaRPr lang="en-US"/>
        </a:p>
      </dgm:t>
    </dgm:pt>
    <dgm:pt modelId="{021BE447-E53D-4451-A56A-1AB95816D6C1}">
      <dgm:prSet/>
      <dgm:spPr/>
      <dgm:t>
        <a:bodyPr/>
        <a:lstStyle/>
        <a:p>
          <a:r>
            <a:rPr lang="en-GB" b="1"/>
            <a:t>Product Order Data</a:t>
          </a:r>
          <a:r>
            <a:rPr lang="en-GB"/>
            <a:t>- Forms the base dataset defines what we are predicting .[179,853 rows,19col]</a:t>
          </a:r>
          <a:endParaRPr lang="en-US"/>
        </a:p>
      </dgm:t>
    </dgm:pt>
    <dgm:pt modelId="{2D20C0A3-9536-4677-B765-C71F899DFF3C}" type="parTrans" cxnId="{587A0A4E-5E15-4E9F-8D40-B328DD9C6E56}">
      <dgm:prSet/>
      <dgm:spPr/>
      <dgm:t>
        <a:bodyPr/>
        <a:lstStyle/>
        <a:p>
          <a:endParaRPr lang="en-US"/>
        </a:p>
      </dgm:t>
    </dgm:pt>
    <dgm:pt modelId="{CFA4DDEB-1CD5-43D3-9A86-7A19BECDAFA1}" type="sibTrans" cxnId="{587A0A4E-5E15-4E9F-8D40-B328DD9C6E56}">
      <dgm:prSet/>
      <dgm:spPr/>
      <dgm:t>
        <a:bodyPr/>
        <a:lstStyle/>
        <a:p>
          <a:endParaRPr lang="en-US"/>
        </a:p>
      </dgm:t>
    </dgm:pt>
    <dgm:pt modelId="{7BE314F3-8BBF-44EC-BE21-D867411B827D}">
      <dgm:prSet/>
      <dgm:spPr/>
      <dgm:t>
        <a:bodyPr/>
        <a:lstStyle/>
        <a:p>
          <a:r>
            <a:rPr lang="en-GB" b="1"/>
            <a:t>Product Features Data</a:t>
          </a:r>
          <a:r>
            <a:rPr lang="en-GB"/>
            <a:t>-Captures product complexity ,helps estimate how long an order </a:t>
          </a:r>
          <a:r>
            <a:rPr lang="en-GB" i="1"/>
            <a:t>should</a:t>
          </a:r>
          <a:r>
            <a:rPr lang="en-GB"/>
            <a:t> take.[260 rows,4 col]</a:t>
          </a:r>
          <a:endParaRPr lang="en-US"/>
        </a:p>
      </dgm:t>
    </dgm:pt>
    <dgm:pt modelId="{73777D5D-7C88-4577-97F2-819E084F6F79}" type="parTrans" cxnId="{F3A350E8-D502-47AF-A873-A9F3D1F679A0}">
      <dgm:prSet/>
      <dgm:spPr/>
      <dgm:t>
        <a:bodyPr/>
        <a:lstStyle/>
        <a:p>
          <a:endParaRPr lang="en-US"/>
        </a:p>
      </dgm:t>
    </dgm:pt>
    <dgm:pt modelId="{A72D747E-1FE8-4D94-BBEF-964F2AD10BC9}" type="sibTrans" cxnId="{F3A350E8-D502-47AF-A873-A9F3D1F679A0}">
      <dgm:prSet/>
      <dgm:spPr/>
      <dgm:t>
        <a:bodyPr/>
        <a:lstStyle/>
        <a:p>
          <a:endParaRPr lang="en-US"/>
        </a:p>
      </dgm:t>
    </dgm:pt>
    <dgm:pt modelId="{833F1C7A-329D-4910-8EEE-54E087FB7455}">
      <dgm:prSet/>
      <dgm:spPr/>
      <dgm:t>
        <a:bodyPr/>
        <a:lstStyle/>
        <a:p>
          <a:r>
            <a:rPr lang="en-GB" b="1"/>
            <a:t>Calendar Data</a:t>
          </a:r>
          <a:r>
            <a:rPr lang="en-GB"/>
            <a:t>-Captures factory working conditions Explains delays due to non-working or special periods[370 rows,16 col]</a:t>
          </a:r>
          <a:endParaRPr lang="en-US"/>
        </a:p>
      </dgm:t>
    </dgm:pt>
    <dgm:pt modelId="{7E8257AA-E4FD-440C-928E-F3FF887BBC00}" type="parTrans" cxnId="{0A4504A3-A35F-4818-A14B-069628BCD373}">
      <dgm:prSet/>
      <dgm:spPr/>
      <dgm:t>
        <a:bodyPr/>
        <a:lstStyle/>
        <a:p>
          <a:endParaRPr lang="en-US"/>
        </a:p>
      </dgm:t>
    </dgm:pt>
    <dgm:pt modelId="{6512F6D4-B269-45CD-88B5-98C93E2009BD}" type="sibTrans" cxnId="{0A4504A3-A35F-4818-A14B-069628BCD373}">
      <dgm:prSet/>
      <dgm:spPr/>
      <dgm:t>
        <a:bodyPr/>
        <a:lstStyle/>
        <a:p>
          <a:endParaRPr lang="en-US"/>
        </a:p>
      </dgm:t>
    </dgm:pt>
    <dgm:pt modelId="{FFBA20EA-9EA6-4EDF-8677-1AE404C71EF6}">
      <dgm:prSet/>
      <dgm:spPr/>
      <dgm:t>
        <a:bodyPr/>
        <a:lstStyle/>
        <a:p>
          <a:r>
            <a:rPr lang="en-GB" b="1"/>
            <a:t>Capacity Data</a:t>
          </a:r>
          <a:r>
            <a:rPr lang="en-GB"/>
            <a:t>-Represents factory workload and availability Helps model impact of capacity constraints on delays[191,934 rows,4col]</a:t>
          </a:r>
          <a:endParaRPr lang="en-US"/>
        </a:p>
      </dgm:t>
    </dgm:pt>
    <dgm:pt modelId="{2EC8802E-0BC9-481E-A3AC-B261757E1030}" type="parTrans" cxnId="{2DFFF784-0FB9-40DC-91DA-EB210D69B543}">
      <dgm:prSet/>
      <dgm:spPr/>
      <dgm:t>
        <a:bodyPr/>
        <a:lstStyle/>
        <a:p>
          <a:endParaRPr lang="en-US"/>
        </a:p>
      </dgm:t>
    </dgm:pt>
    <dgm:pt modelId="{73F40CD7-1B1D-4263-A011-FFCB8D2C2425}" type="sibTrans" cxnId="{2DFFF784-0FB9-40DC-91DA-EB210D69B543}">
      <dgm:prSet/>
      <dgm:spPr/>
      <dgm:t>
        <a:bodyPr/>
        <a:lstStyle/>
        <a:p>
          <a:endParaRPr lang="en-US"/>
        </a:p>
      </dgm:t>
    </dgm:pt>
    <dgm:pt modelId="{8038B3EE-EE3B-460C-8B29-AFF2ADA9EBDC}" type="pres">
      <dgm:prSet presAssocID="{C7AFDA29-62D0-491F-B9F1-FFBB5FD250EB}" presName="linear" presStyleCnt="0">
        <dgm:presLayoutVars>
          <dgm:animLvl val="lvl"/>
          <dgm:resizeHandles val="exact"/>
        </dgm:presLayoutVars>
      </dgm:prSet>
      <dgm:spPr/>
    </dgm:pt>
    <dgm:pt modelId="{32282208-4F18-4708-8BEB-539F458F569F}" type="pres">
      <dgm:prSet presAssocID="{547F4D49-D5C2-4074-92F6-D59823C47240}" presName="parentText" presStyleLbl="node1" presStyleIdx="0" presStyleCnt="1">
        <dgm:presLayoutVars>
          <dgm:chMax val="0"/>
          <dgm:bulletEnabled val="1"/>
        </dgm:presLayoutVars>
      </dgm:prSet>
      <dgm:spPr/>
    </dgm:pt>
    <dgm:pt modelId="{DF232071-2A30-4A57-9015-52546AD69064}" type="pres">
      <dgm:prSet presAssocID="{547F4D49-D5C2-4074-92F6-D59823C47240}" presName="childText" presStyleLbl="revTx" presStyleIdx="0" presStyleCnt="1">
        <dgm:presLayoutVars>
          <dgm:bulletEnabled val="1"/>
        </dgm:presLayoutVars>
      </dgm:prSet>
      <dgm:spPr/>
    </dgm:pt>
  </dgm:ptLst>
  <dgm:cxnLst>
    <dgm:cxn modelId="{183B8301-6C58-40D6-BCB6-31A45ECF5056}" type="presOf" srcId="{7BE314F3-8BBF-44EC-BE21-D867411B827D}" destId="{DF232071-2A30-4A57-9015-52546AD69064}" srcOrd="0" destOrd="1" presId="urn:microsoft.com/office/officeart/2005/8/layout/vList2"/>
    <dgm:cxn modelId="{98B56066-74FA-418B-A3A9-108D7605726B}" srcId="{C7AFDA29-62D0-491F-B9F1-FFBB5FD250EB}" destId="{547F4D49-D5C2-4074-92F6-D59823C47240}" srcOrd="0" destOrd="0" parTransId="{931F861A-1601-41C2-B0E7-B9E2D2EF553A}" sibTransId="{56ABC75C-F9A0-4D1B-B0DB-0157E42B3436}"/>
    <dgm:cxn modelId="{6D1B3468-6F18-42D7-A1BD-F436AC953075}" type="presOf" srcId="{833F1C7A-329D-4910-8EEE-54E087FB7455}" destId="{DF232071-2A30-4A57-9015-52546AD69064}" srcOrd="0" destOrd="2" presId="urn:microsoft.com/office/officeart/2005/8/layout/vList2"/>
    <dgm:cxn modelId="{587A0A4E-5E15-4E9F-8D40-B328DD9C6E56}" srcId="{547F4D49-D5C2-4074-92F6-D59823C47240}" destId="{021BE447-E53D-4451-A56A-1AB95816D6C1}" srcOrd="0" destOrd="0" parTransId="{2D20C0A3-9536-4677-B765-C71F899DFF3C}" sibTransId="{CFA4DDEB-1CD5-43D3-9A86-7A19BECDAFA1}"/>
    <dgm:cxn modelId="{2DFFF784-0FB9-40DC-91DA-EB210D69B543}" srcId="{547F4D49-D5C2-4074-92F6-D59823C47240}" destId="{FFBA20EA-9EA6-4EDF-8677-1AE404C71EF6}" srcOrd="3" destOrd="0" parTransId="{2EC8802E-0BC9-481E-A3AC-B261757E1030}" sibTransId="{73F40CD7-1B1D-4263-A011-FFCB8D2C2425}"/>
    <dgm:cxn modelId="{B13EF79D-66D3-4C4F-B6EB-CFA3376F7D96}" type="presOf" srcId="{547F4D49-D5C2-4074-92F6-D59823C47240}" destId="{32282208-4F18-4708-8BEB-539F458F569F}" srcOrd="0" destOrd="0" presId="urn:microsoft.com/office/officeart/2005/8/layout/vList2"/>
    <dgm:cxn modelId="{660D059E-ED64-4029-90CF-894A0317BDE6}" type="presOf" srcId="{021BE447-E53D-4451-A56A-1AB95816D6C1}" destId="{DF232071-2A30-4A57-9015-52546AD69064}" srcOrd="0" destOrd="0" presId="urn:microsoft.com/office/officeart/2005/8/layout/vList2"/>
    <dgm:cxn modelId="{0A4504A3-A35F-4818-A14B-069628BCD373}" srcId="{547F4D49-D5C2-4074-92F6-D59823C47240}" destId="{833F1C7A-329D-4910-8EEE-54E087FB7455}" srcOrd="2" destOrd="0" parTransId="{7E8257AA-E4FD-440C-928E-F3FF887BBC00}" sibTransId="{6512F6D4-B269-45CD-88B5-98C93E2009BD}"/>
    <dgm:cxn modelId="{CFA945DF-970B-4211-95AF-8D7EB4FB083E}" type="presOf" srcId="{C7AFDA29-62D0-491F-B9F1-FFBB5FD250EB}" destId="{8038B3EE-EE3B-460C-8B29-AFF2ADA9EBDC}" srcOrd="0" destOrd="0" presId="urn:microsoft.com/office/officeart/2005/8/layout/vList2"/>
    <dgm:cxn modelId="{F3A350E8-D502-47AF-A873-A9F3D1F679A0}" srcId="{547F4D49-D5C2-4074-92F6-D59823C47240}" destId="{7BE314F3-8BBF-44EC-BE21-D867411B827D}" srcOrd="1" destOrd="0" parTransId="{73777D5D-7C88-4577-97F2-819E084F6F79}" sibTransId="{A72D747E-1FE8-4D94-BBEF-964F2AD10BC9}"/>
    <dgm:cxn modelId="{2AB86AFB-3CFE-4CBB-820F-A775B7A83BF3}" type="presOf" srcId="{FFBA20EA-9EA6-4EDF-8677-1AE404C71EF6}" destId="{DF232071-2A30-4A57-9015-52546AD69064}" srcOrd="0" destOrd="3" presId="urn:microsoft.com/office/officeart/2005/8/layout/vList2"/>
    <dgm:cxn modelId="{F28C6F11-29DB-41B8-95F2-BC9D242DFC0A}" type="presParOf" srcId="{8038B3EE-EE3B-460C-8B29-AFF2ADA9EBDC}" destId="{32282208-4F18-4708-8BEB-539F458F569F}" srcOrd="0" destOrd="0" presId="urn:microsoft.com/office/officeart/2005/8/layout/vList2"/>
    <dgm:cxn modelId="{784A0640-CF8F-46E0-B52E-9F5FF18F71B4}" type="presParOf" srcId="{8038B3EE-EE3B-460C-8B29-AFF2ADA9EBDC}" destId="{DF232071-2A30-4A57-9015-52546AD69064}"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786751-42FD-44F0-A8B0-773CB3380BC2}">
      <dsp:nvSpPr>
        <dsp:cNvPr id="0" name=""/>
        <dsp:cNvSpPr/>
      </dsp:nvSpPr>
      <dsp:spPr>
        <a:xfrm>
          <a:off x="1346" y="89198"/>
          <a:ext cx="4725967" cy="300098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A4CE95-C214-44E6-B230-E14D145B9600}">
      <dsp:nvSpPr>
        <dsp:cNvPr id="0" name=""/>
        <dsp:cNvSpPr/>
      </dsp:nvSpPr>
      <dsp:spPr>
        <a:xfrm>
          <a:off x="526453" y="588050"/>
          <a:ext cx="4725967" cy="300098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In Dell’s manufacturing process, the kit phase requires gathering all components before production, but its completion time varies due to product complexity, order size, and factory conditions. This variability makes it difficult to accurately predict completion timelines and plan production efficiently</a:t>
          </a:r>
        </a:p>
      </dsp:txBody>
      <dsp:txXfrm>
        <a:off x="614349" y="675946"/>
        <a:ext cx="4550175" cy="2825197"/>
      </dsp:txXfrm>
    </dsp:sp>
    <dsp:sp modelId="{0C28B000-F55C-44AD-B108-E8A957A7E726}">
      <dsp:nvSpPr>
        <dsp:cNvPr id="0" name=""/>
        <dsp:cNvSpPr/>
      </dsp:nvSpPr>
      <dsp:spPr>
        <a:xfrm>
          <a:off x="5777528" y="89198"/>
          <a:ext cx="4725967" cy="3000989"/>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81F41D-C8AA-4A1B-82B5-F00CE46FE58E}">
      <dsp:nvSpPr>
        <dsp:cNvPr id="0" name=""/>
        <dsp:cNvSpPr/>
      </dsp:nvSpPr>
      <dsp:spPr>
        <a:xfrm>
          <a:off x="6302636" y="588050"/>
          <a:ext cx="4725967" cy="3000989"/>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 objective is to develop a machine learning model to predict kit cycle time and estimate the expected completion date using historical order data, product processing times, and factory calendar and capacity information.</a:t>
          </a:r>
        </a:p>
      </dsp:txBody>
      <dsp:txXfrm>
        <a:off x="6390532" y="675946"/>
        <a:ext cx="4550175" cy="28251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BEC3A4-1816-42A0-A510-F26AC92499A3}">
      <dsp:nvSpPr>
        <dsp:cNvPr id="0" name=""/>
        <dsp:cNvSpPr/>
      </dsp:nvSpPr>
      <dsp:spPr>
        <a:xfrm>
          <a:off x="235853" y="611259"/>
          <a:ext cx="915236" cy="91523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FEA494-E3B3-4310-8E66-EF04CD078D5F}">
      <dsp:nvSpPr>
        <dsp:cNvPr id="0" name=""/>
        <dsp:cNvSpPr/>
      </dsp:nvSpPr>
      <dsp:spPr>
        <a:xfrm>
          <a:off x="428053" y="803458"/>
          <a:ext cx="530837" cy="5308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7F9269-31A1-4861-8407-B7574A41AF29}">
      <dsp:nvSpPr>
        <dsp:cNvPr id="0" name=""/>
        <dsp:cNvSpPr/>
      </dsp:nvSpPr>
      <dsp:spPr>
        <a:xfrm>
          <a:off x="1347212" y="611259"/>
          <a:ext cx="2157343" cy="91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a:latin typeface="Gill Sans MT"/>
              <a:ea typeface="Calibri"/>
              <a:cs typeface="Calibri"/>
            </a:rPr>
            <a:t>Data Preparation and cleaning</a:t>
          </a:r>
          <a:endParaRPr lang="en-US" sz="2200" kern="1200">
            <a:latin typeface="Gill Sans MT"/>
          </a:endParaRPr>
        </a:p>
      </dsp:txBody>
      <dsp:txXfrm>
        <a:off x="1347212" y="611259"/>
        <a:ext cx="2157343" cy="915236"/>
      </dsp:txXfrm>
    </dsp:sp>
    <dsp:sp modelId="{F5E7CAA5-BD48-426D-979D-FFCF95D56869}">
      <dsp:nvSpPr>
        <dsp:cNvPr id="0" name=""/>
        <dsp:cNvSpPr/>
      </dsp:nvSpPr>
      <dsp:spPr>
        <a:xfrm>
          <a:off x="3880456" y="611259"/>
          <a:ext cx="915236" cy="91523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F07829-1929-4AF1-8FA9-65B5C7FE457E}">
      <dsp:nvSpPr>
        <dsp:cNvPr id="0" name=""/>
        <dsp:cNvSpPr/>
      </dsp:nvSpPr>
      <dsp:spPr>
        <a:xfrm>
          <a:off x="4072656" y="803458"/>
          <a:ext cx="530837" cy="5308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BF14AFA-56B2-470D-B254-7B404387442A}">
      <dsp:nvSpPr>
        <dsp:cNvPr id="0" name=""/>
        <dsp:cNvSpPr/>
      </dsp:nvSpPr>
      <dsp:spPr>
        <a:xfrm>
          <a:off x="4991815" y="611259"/>
          <a:ext cx="2157343" cy="91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a:latin typeface="Gill Sans MT"/>
              <a:ea typeface="Calibri"/>
              <a:cs typeface="Calibri"/>
            </a:rPr>
            <a:t>Feature Engineering</a:t>
          </a:r>
          <a:endParaRPr lang="en-US" sz="2200" kern="1200">
            <a:latin typeface="Gill Sans MT"/>
          </a:endParaRPr>
        </a:p>
      </dsp:txBody>
      <dsp:txXfrm>
        <a:off x="4991815" y="611259"/>
        <a:ext cx="2157343" cy="915236"/>
      </dsp:txXfrm>
    </dsp:sp>
    <dsp:sp modelId="{AEC4940A-3881-4053-BF5E-83B05993AE8A}">
      <dsp:nvSpPr>
        <dsp:cNvPr id="0" name=""/>
        <dsp:cNvSpPr/>
      </dsp:nvSpPr>
      <dsp:spPr>
        <a:xfrm>
          <a:off x="7525059" y="611259"/>
          <a:ext cx="915236" cy="91523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AD64D2-7B02-4CE7-A6F6-097FBE30052D}">
      <dsp:nvSpPr>
        <dsp:cNvPr id="0" name=""/>
        <dsp:cNvSpPr/>
      </dsp:nvSpPr>
      <dsp:spPr>
        <a:xfrm>
          <a:off x="7717258" y="803458"/>
          <a:ext cx="530837" cy="5308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2876624-0BE5-4ABE-9025-38B10C524F56}">
      <dsp:nvSpPr>
        <dsp:cNvPr id="0" name=""/>
        <dsp:cNvSpPr/>
      </dsp:nvSpPr>
      <dsp:spPr>
        <a:xfrm>
          <a:off x="8636417" y="611259"/>
          <a:ext cx="2157343" cy="91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IN" sz="2200" kern="1200">
              <a:latin typeface="Gill Sans MT"/>
              <a:ea typeface="Calibri"/>
              <a:cs typeface="Calibri"/>
            </a:rPr>
            <a:t>Model Development</a:t>
          </a:r>
          <a:endParaRPr lang="en-US" sz="2200" kern="1200"/>
        </a:p>
      </dsp:txBody>
      <dsp:txXfrm>
        <a:off x="8636417" y="611259"/>
        <a:ext cx="2157343" cy="915236"/>
      </dsp:txXfrm>
    </dsp:sp>
    <dsp:sp modelId="{087E057B-FF40-401B-9718-0B4D594A9088}">
      <dsp:nvSpPr>
        <dsp:cNvPr id="0" name=""/>
        <dsp:cNvSpPr/>
      </dsp:nvSpPr>
      <dsp:spPr>
        <a:xfrm>
          <a:off x="235853" y="2151807"/>
          <a:ext cx="915236" cy="91523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0C9D6A-63DE-43DF-8E2C-36F1B2B5C3DB}">
      <dsp:nvSpPr>
        <dsp:cNvPr id="0" name=""/>
        <dsp:cNvSpPr/>
      </dsp:nvSpPr>
      <dsp:spPr>
        <a:xfrm>
          <a:off x="428053" y="2344006"/>
          <a:ext cx="530837" cy="5308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CCE6D5C-7E2B-4352-9874-B05C0CDB7ED4}">
      <dsp:nvSpPr>
        <dsp:cNvPr id="0" name=""/>
        <dsp:cNvSpPr/>
      </dsp:nvSpPr>
      <dsp:spPr>
        <a:xfrm>
          <a:off x="1347212" y="2151807"/>
          <a:ext cx="2157343" cy="91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a:latin typeface="Gill Sans MT"/>
              <a:ea typeface="Calibri"/>
              <a:cs typeface="Calibri"/>
            </a:rPr>
            <a:t>Model Improvement</a:t>
          </a:r>
          <a:endParaRPr lang="en-US" sz="2200" kern="1200"/>
        </a:p>
      </dsp:txBody>
      <dsp:txXfrm>
        <a:off x="1347212" y="2151807"/>
        <a:ext cx="2157343" cy="915236"/>
      </dsp:txXfrm>
    </dsp:sp>
    <dsp:sp modelId="{CFF009DC-0F12-44E0-A5C0-07582800079D}">
      <dsp:nvSpPr>
        <dsp:cNvPr id="0" name=""/>
        <dsp:cNvSpPr/>
      </dsp:nvSpPr>
      <dsp:spPr>
        <a:xfrm>
          <a:off x="3880456" y="2151807"/>
          <a:ext cx="915236" cy="91523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4D1573-3640-4B92-A68C-D06015C04993}">
      <dsp:nvSpPr>
        <dsp:cNvPr id="0" name=""/>
        <dsp:cNvSpPr/>
      </dsp:nvSpPr>
      <dsp:spPr>
        <a:xfrm>
          <a:off x="4072656" y="2344006"/>
          <a:ext cx="530837" cy="530837"/>
        </a:xfrm>
        <a:prstGeom prst="rect">
          <a:avLst/>
        </a:prstGeom>
        <a:blipFill>
          <a:blip xmlns:r="http://schemas.openxmlformats.org/officeDocument/2006/relationships" r:embed="rId5">
            <a:extLst>
              <a:ext uri="{28A0092B-C50C-407E-A947-70E740481C1C}">
                <a14:useLocalDpi xmlns:a14="http://schemas.microsoft.com/office/drawing/2010/main" val="0"/>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E399F88-265F-444B-B6E6-68835E74FA0B}">
      <dsp:nvSpPr>
        <dsp:cNvPr id="0" name=""/>
        <dsp:cNvSpPr/>
      </dsp:nvSpPr>
      <dsp:spPr>
        <a:xfrm>
          <a:off x="4991815" y="2151807"/>
          <a:ext cx="2157343" cy="91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a:latin typeface="Gill Sans MT"/>
              <a:ea typeface="Calibri"/>
              <a:cs typeface="Calibri"/>
            </a:rPr>
            <a:t>Predictions </a:t>
          </a:r>
          <a:endParaRPr lang="en-US" sz="2200" kern="1200"/>
        </a:p>
      </dsp:txBody>
      <dsp:txXfrm>
        <a:off x="4991815" y="2151807"/>
        <a:ext cx="2157343" cy="915236"/>
      </dsp:txXfrm>
    </dsp:sp>
    <dsp:sp modelId="{C27C0C5A-1B09-42C8-8A75-EE464691B83F}">
      <dsp:nvSpPr>
        <dsp:cNvPr id="0" name=""/>
        <dsp:cNvSpPr/>
      </dsp:nvSpPr>
      <dsp:spPr>
        <a:xfrm>
          <a:off x="7525059" y="2151807"/>
          <a:ext cx="915236" cy="91523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FB1091-EB03-4C73-819C-73ADC7FA4D2B}">
      <dsp:nvSpPr>
        <dsp:cNvPr id="0" name=""/>
        <dsp:cNvSpPr/>
      </dsp:nvSpPr>
      <dsp:spPr>
        <a:xfrm>
          <a:off x="7717258" y="2344006"/>
          <a:ext cx="530837" cy="5308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B149DB6-C585-444E-B951-83B8DCCC2718}">
      <dsp:nvSpPr>
        <dsp:cNvPr id="0" name=""/>
        <dsp:cNvSpPr/>
      </dsp:nvSpPr>
      <dsp:spPr>
        <a:xfrm>
          <a:off x="8636417" y="2151807"/>
          <a:ext cx="2157343" cy="9152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a:latin typeface="Gill Sans MT" panose="020B0502020104020203"/>
            </a:rPr>
            <a:t>Insights and Recommendations</a:t>
          </a:r>
          <a:endParaRPr lang="en-US" sz="2200" kern="1200"/>
        </a:p>
      </dsp:txBody>
      <dsp:txXfrm>
        <a:off x="8636417" y="2151807"/>
        <a:ext cx="2157343" cy="9152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282208-4F18-4708-8BEB-539F458F569F}">
      <dsp:nvSpPr>
        <dsp:cNvPr id="0" name=""/>
        <dsp:cNvSpPr/>
      </dsp:nvSpPr>
      <dsp:spPr>
        <a:xfrm>
          <a:off x="0" y="111290"/>
          <a:ext cx="3979200" cy="444600"/>
        </a:xfrm>
        <a:prstGeom prst="round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b="1" kern="1200"/>
            <a:t>DATASETS USED</a:t>
          </a:r>
          <a:r>
            <a:rPr lang="en-GB" sz="1900" kern="1200"/>
            <a:t>:</a:t>
          </a:r>
          <a:endParaRPr lang="en-US" sz="1900" kern="1200"/>
        </a:p>
      </dsp:txBody>
      <dsp:txXfrm>
        <a:off x="21704" y="132994"/>
        <a:ext cx="3935792" cy="401192"/>
      </dsp:txXfrm>
    </dsp:sp>
    <dsp:sp modelId="{DF232071-2A30-4A57-9015-52546AD69064}">
      <dsp:nvSpPr>
        <dsp:cNvPr id="0" name=""/>
        <dsp:cNvSpPr/>
      </dsp:nvSpPr>
      <dsp:spPr>
        <a:xfrm>
          <a:off x="0" y="555890"/>
          <a:ext cx="3979200" cy="2595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634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GB" sz="1500" b="1" kern="1200"/>
            <a:t>Product Order Data</a:t>
          </a:r>
          <a:r>
            <a:rPr lang="en-GB" sz="1500" kern="1200"/>
            <a:t>- Forms the base dataset defines what we are predicting .[179,853 rows,19col]</a:t>
          </a:r>
          <a:endParaRPr lang="en-US" sz="1500" kern="1200"/>
        </a:p>
        <a:p>
          <a:pPr marL="114300" lvl="1" indent="-114300" algn="l" defTabSz="666750">
            <a:lnSpc>
              <a:spcPct val="90000"/>
            </a:lnSpc>
            <a:spcBef>
              <a:spcPct val="0"/>
            </a:spcBef>
            <a:spcAft>
              <a:spcPct val="20000"/>
            </a:spcAft>
            <a:buChar char="•"/>
          </a:pPr>
          <a:r>
            <a:rPr lang="en-GB" sz="1500" b="1" kern="1200"/>
            <a:t>Product Features Data</a:t>
          </a:r>
          <a:r>
            <a:rPr lang="en-GB" sz="1500" kern="1200"/>
            <a:t>-Captures product complexity ,helps estimate how long an order </a:t>
          </a:r>
          <a:r>
            <a:rPr lang="en-GB" sz="1500" i="1" kern="1200"/>
            <a:t>should</a:t>
          </a:r>
          <a:r>
            <a:rPr lang="en-GB" sz="1500" kern="1200"/>
            <a:t> take.[260 rows,4 col]</a:t>
          </a:r>
          <a:endParaRPr lang="en-US" sz="1500" kern="1200"/>
        </a:p>
        <a:p>
          <a:pPr marL="114300" lvl="1" indent="-114300" algn="l" defTabSz="666750">
            <a:lnSpc>
              <a:spcPct val="90000"/>
            </a:lnSpc>
            <a:spcBef>
              <a:spcPct val="0"/>
            </a:spcBef>
            <a:spcAft>
              <a:spcPct val="20000"/>
            </a:spcAft>
            <a:buChar char="•"/>
          </a:pPr>
          <a:r>
            <a:rPr lang="en-GB" sz="1500" b="1" kern="1200"/>
            <a:t>Calendar Data</a:t>
          </a:r>
          <a:r>
            <a:rPr lang="en-GB" sz="1500" kern="1200"/>
            <a:t>-Captures factory working conditions Explains delays due to non-working or special periods[370 rows,16 col]</a:t>
          </a:r>
          <a:endParaRPr lang="en-US" sz="1500" kern="1200"/>
        </a:p>
        <a:p>
          <a:pPr marL="114300" lvl="1" indent="-114300" algn="l" defTabSz="666750">
            <a:lnSpc>
              <a:spcPct val="90000"/>
            </a:lnSpc>
            <a:spcBef>
              <a:spcPct val="0"/>
            </a:spcBef>
            <a:spcAft>
              <a:spcPct val="20000"/>
            </a:spcAft>
            <a:buChar char="•"/>
          </a:pPr>
          <a:r>
            <a:rPr lang="en-GB" sz="1500" b="1" kern="1200"/>
            <a:t>Capacity Data</a:t>
          </a:r>
          <a:r>
            <a:rPr lang="en-GB" sz="1500" kern="1200"/>
            <a:t>-Represents factory workload and availability Helps model impact of capacity constraints on delays[191,934 rows,4col]</a:t>
          </a:r>
          <a:endParaRPr lang="en-US" sz="1500" kern="1200"/>
        </a:p>
      </dsp:txBody>
      <dsp:txXfrm>
        <a:off x="0" y="555890"/>
        <a:ext cx="3979200" cy="259577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512285-8FB0-481D-9FCB-A3B671B0B7E5}" type="datetimeFigureOut">
              <a:rPr lang="en-IN" smtClean="0"/>
              <a:t>22-03-2026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01E5DB-1C07-426F-BAAE-8F97883E2B20}" type="slidenum">
              <a:rPr lang="en-IN" smtClean="0"/>
              <a:t>‹#›</a:t>
            </a:fld>
            <a:endParaRPr lang="en-IN"/>
          </a:p>
        </p:txBody>
      </p:sp>
    </p:spTree>
    <p:extLst>
      <p:ext uri="{BB962C8B-B14F-4D97-AF65-F5344CB8AC3E}">
        <p14:creationId xmlns:p14="http://schemas.microsoft.com/office/powerpoint/2010/main" val="1867321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FB4D9-E01C-453C-FE25-7BE0382C54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7730F-476B-BA19-262F-A06AFB8F37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E0878-F7A8-DF02-F3C9-101DF11A6A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80D4B1-9274-73F0-666F-A758FF6D4523}"/>
              </a:ext>
            </a:extLst>
          </p:cNvPr>
          <p:cNvSpPr>
            <a:spLocks noGrp="1"/>
          </p:cNvSpPr>
          <p:nvPr>
            <p:ph type="sldNum" sz="quarter" idx="5"/>
          </p:nvPr>
        </p:nvSpPr>
        <p:spPr/>
        <p:txBody>
          <a:bodyPr/>
          <a:lstStyle/>
          <a:p>
            <a:fld id="{0301E5DB-1C07-426F-BAAE-8F97883E2B20}" type="slidenum">
              <a:rPr lang="en-IN" smtClean="0"/>
              <a:t>1</a:t>
            </a:fld>
            <a:endParaRPr lang="en-IN"/>
          </a:p>
        </p:txBody>
      </p:sp>
    </p:spTree>
    <p:extLst>
      <p:ext uri="{BB962C8B-B14F-4D97-AF65-F5344CB8AC3E}">
        <p14:creationId xmlns:p14="http://schemas.microsoft.com/office/powerpoint/2010/main" val="192989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2D8E4-657D-D754-EF4D-DEDCE17003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D778E1-1808-E87B-F908-C4FC0B553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924B1-54BE-702D-FD50-7F4150151319}"/>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6183750C-B7BE-5C58-E281-939DB3D05230}"/>
              </a:ext>
            </a:extLst>
          </p:cNvPr>
          <p:cNvSpPr>
            <a:spLocks noGrp="1"/>
          </p:cNvSpPr>
          <p:nvPr>
            <p:ph type="sldNum" sz="quarter" idx="5"/>
          </p:nvPr>
        </p:nvSpPr>
        <p:spPr/>
        <p:txBody>
          <a:bodyPr/>
          <a:lstStyle/>
          <a:p>
            <a:fld id="{0301E5DB-1C07-426F-BAAE-8F97883E2B20}" type="slidenum">
              <a:rPr lang="en-IN" smtClean="0"/>
              <a:t>2</a:t>
            </a:fld>
            <a:endParaRPr lang="en-IN"/>
          </a:p>
        </p:txBody>
      </p:sp>
    </p:spTree>
    <p:extLst>
      <p:ext uri="{BB962C8B-B14F-4D97-AF65-F5344CB8AC3E}">
        <p14:creationId xmlns:p14="http://schemas.microsoft.com/office/powerpoint/2010/main" val="311617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1F358-E6E1-AF23-F2E7-8D6A5B372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B1D50-30B0-72B8-0645-1239DE28AA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294136-24A1-EFE4-A77B-085F11B4FD91}"/>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37F354DF-0BD0-7788-1295-A27EE1E3A7B3}"/>
              </a:ext>
            </a:extLst>
          </p:cNvPr>
          <p:cNvSpPr>
            <a:spLocks noGrp="1"/>
          </p:cNvSpPr>
          <p:nvPr>
            <p:ph type="sldNum" sz="quarter" idx="5"/>
          </p:nvPr>
        </p:nvSpPr>
        <p:spPr/>
        <p:txBody>
          <a:bodyPr/>
          <a:lstStyle/>
          <a:p>
            <a:fld id="{0301E5DB-1C07-426F-BAAE-8F97883E2B20}" type="slidenum">
              <a:rPr lang="en-IN" smtClean="0"/>
              <a:t>3</a:t>
            </a:fld>
            <a:endParaRPr lang="en-IN"/>
          </a:p>
        </p:txBody>
      </p:sp>
    </p:spTree>
    <p:extLst>
      <p:ext uri="{BB962C8B-B14F-4D97-AF65-F5344CB8AC3E}">
        <p14:creationId xmlns:p14="http://schemas.microsoft.com/office/powerpoint/2010/main" val="4105744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246C4-1F77-3BBF-A8D5-8E017187D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F18CA-9FC9-65F1-A560-D4ED4506BE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029F3-11C4-EB9E-8AC8-43204A957C3E}"/>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45119E99-A044-0CEF-B988-5821E5A7422D}"/>
              </a:ext>
            </a:extLst>
          </p:cNvPr>
          <p:cNvSpPr>
            <a:spLocks noGrp="1"/>
          </p:cNvSpPr>
          <p:nvPr>
            <p:ph type="sldNum" sz="quarter" idx="5"/>
          </p:nvPr>
        </p:nvSpPr>
        <p:spPr/>
        <p:txBody>
          <a:bodyPr/>
          <a:lstStyle/>
          <a:p>
            <a:fld id="{0301E5DB-1C07-426F-BAAE-8F97883E2B20}" type="slidenum">
              <a:rPr lang="en-IN" smtClean="0"/>
              <a:t>5</a:t>
            </a:fld>
            <a:endParaRPr lang="en-IN"/>
          </a:p>
        </p:txBody>
      </p:sp>
    </p:spTree>
    <p:extLst>
      <p:ext uri="{BB962C8B-B14F-4D97-AF65-F5344CB8AC3E}">
        <p14:creationId xmlns:p14="http://schemas.microsoft.com/office/powerpoint/2010/main" val="2039057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52EE1-F3CB-24EA-CC34-6D43E32C2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A62FE-7A04-14A1-B7AB-173034281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1C2D8-0FDA-85F8-FFAA-303D7E061741}"/>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516BF215-4F9C-2D23-6BF5-CC105A271D29}"/>
              </a:ext>
            </a:extLst>
          </p:cNvPr>
          <p:cNvSpPr>
            <a:spLocks noGrp="1"/>
          </p:cNvSpPr>
          <p:nvPr>
            <p:ph type="sldNum" sz="quarter" idx="5"/>
          </p:nvPr>
        </p:nvSpPr>
        <p:spPr/>
        <p:txBody>
          <a:bodyPr/>
          <a:lstStyle/>
          <a:p>
            <a:fld id="{0301E5DB-1C07-426F-BAAE-8F97883E2B20}" type="slidenum">
              <a:rPr lang="en-IN" smtClean="0"/>
              <a:t>7</a:t>
            </a:fld>
            <a:endParaRPr lang="en-IN"/>
          </a:p>
        </p:txBody>
      </p:sp>
    </p:spTree>
    <p:extLst>
      <p:ext uri="{BB962C8B-B14F-4D97-AF65-F5344CB8AC3E}">
        <p14:creationId xmlns:p14="http://schemas.microsoft.com/office/powerpoint/2010/main" val="1528486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1E76A-0CA7-71DF-299A-F5F271490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86CE8-9980-A90B-A984-19991BC71E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5B0E0-FB75-D29B-F631-6C378D827CF2}"/>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FB579FF2-738D-A7EB-4074-868F7444D0DB}"/>
              </a:ext>
            </a:extLst>
          </p:cNvPr>
          <p:cNvSpPr>
            <a:spLocks noGrp="1"/>
          </p:cNvSpPr>
          <p:nvPr>
            <p:ph type="sldNum" sz="quarter" idx="5"/>
          </p:nvPr>
        </p:nvSpPr>
        <p:spPr/>
        <p:txBody>
          <a:bodyPr/>
          <a:lstStyle/>
          <a:p>
            <a:fld id="{0301E5DB-1C07-426F-BAAE-8F97883E2B20}" type="slidenum">
              <a:rPr lang="en-IN" smtClean="0"/>
              <a:t>8</a:t>
            </a:fld>
            <a:endParaRPr lang="en-IN"/>
          </a:p>
        </p:txBody>
      </p:sp>
    </p:spTree>
    <p:extLst>
      <p:ext uri="{BB962C8B-B14F-4D97-AF65-F5344CB8AC3E}">
        <p14:creationId xmlns:p14="http://schemas.microsoft.com/office/powerpoint/2010/main" val="1807580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D5841-B084-C543-58B3-CDB024011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188C6-5C0D-610A-6BB9-A6DBE1A5E3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FB267-2C93-7758-CAAC-7958B406EA86}"/>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BBE2EF87-1D85-02D1-0268-A8F3DF0E2DF6}"/>
              </a:ext>
            </a:extLst>
          </p:cNvPr>
          <p:cNvSpPr>
            <a:spLocks noGrp="1"/>
          </p:cNvSpPr>
          <p:nvPr>
            <p:ph type="sldNum" sz="quarter" idx="5"/>
          </p:nvPr>
        </p:nvSpPr>
        <p:spPr/>
        <p:txBody>
          <a:bodyPr/>
          <a:lstStyle/>
          <a:p>
            <a:fld id="{0301E5DB-1C07-426F-BAAE-8F97883E2B20}" type="slidenum">
              <a:rPr lang="en-IN" smtClean="0"/>
              <a:t>9</a:t>
            </a:fld>
            <a:endParaRPr lang="en-IN"/>
          </a:p>
        </p:txBody>
      </p:sp>
    </p:spTree>
    <p:extLst>
      <p:ext uri="{BB962C8B-B14F-4D97-AF65-F5344CB8AC3E}">
        <p14:creationId xmlns:p14="http://schemas.microsoft.com/office/powerpoint/2010/main" val="1412127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5CD89-3A86-0AA8-D4C2-339AE606B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37272-2687-41BC-B371-ABEAAC7BE0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88F13-B27B-1D55-1C73-7AAD7F0BF688}"/>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5C382D57-0177-80F6-B3A9-4DB377A1DE85}"/>
              </a:ext>
            </a:extLst>
          </p:cNvPr>
          <p:cNvSpPr>
            <a:spLocks noGrp="1"/>
          </p:cNvSpPr>
          <p:nvPr>
            <p:ph type="sldNum" sz="quarter" idx="5"/>
          </p:nvPr>
        </p:nvSpPr>
        <p:spPr/>
        <p:txBody>
          <a:bodyPr/>
          <a:lstStyle/>
          <a:p>
            <a:fld id="{0301E5DB-1C07-426F-BAAE-8F97883E2B20}" type="slidenum">
              <a:rPr lang="en-IN" smtClean="0"/>
              <a:t>10</a:t>
            </a:fld>
            <a:endParaRPr lang="en-IN"/>
          </a:p>
        </p:txBody>
      </p:sp>
    </p:spTree>
    <p:extLst>
      <p:ext uri="{BB962C8B-B14F-4D97-AF65-F5344CB8AC3E}">
        <p14:creationId xmlns:p14="http://schemas.microsoft.com/office/powerpoint/2010/main" val="1123292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71734-50AD-B008-CA04-B83AFE964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65E3A-8D6D-3899-2F6D-7C49922B5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1968B-76F8-AB50-3ABA-ABBF223832DF}"/>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C27905C3-592C-371C-2A9F-39E9790806CA}"/>
              </a:ext>
            </a:extLst>
          </p:cNvPr>
          <p:cNvSpPr>
            <a:spLocks noGrp="1"/>
          </p:cNvSpPr>
          <p:nvPr>
            <p:ph type="sldNum" sz="quarter" idx="5"/>
          </p:nvPr>
        </p:nvSpPr>
        <p:spPr/>
        <p:txBody>
          <a:bodyPr/>
          <a:lstStyle/>
          <a:p>
            <a:fld id="{0301E5DB-1C07-426F-BAAE-8F97883E2B20}" type="slidenum">
              <a:rPr lang="en-IN" smtClean="0"/>
              <a:t>11</a:t>
            </a:fld>
            <a:endParaRPr lang="en-IN"/>
          </a:p>
        </p:txBody>
      </p:sp>
    </p:spTree>
    <p:extLst>
      <p:ext uri="{BB962C8B-B14F-4D97-AF65-F5344CB8AC3E}">
        <p14:creationId xmlns:p14="http://schemas.microsoft.com/office/powerpoint/2010/main" val="4164931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55F5E-51F9-D6BB-94B5-022098AD2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54FDA-9B1B-1B06-DFAE-0565719F7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9236C5-2CD0-2107-ED6B-94C9666C9A78}"/>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3325E80B-CFB7-E90B-1F0A-1ED8CD8E4054}"/>
              </a:ext>
            </a:extLst>
          </p:cNvPr>
          <p:cNvSpPr>
            <a:spLocks noGrp="1"/>
          </p:cNvSpPr>
          <p:nvPr>
            <p:ph type="sldNum" sz="quarter" idx="5"/>
          </p:nvPr>
        </p:nvSpPr>
        <p:spPr/>
        <p:txBody>
          <a:bodyPr/>
          <a:lstStyle/>
          <a:p>
            <a:fld id="{0301E5DB-1C07-426F-BAAE-8F97883E2B20}" type="slidenum">
              <a:rPr lang="en-IN" smtClean="0"/>
              <a:t>5</a:t>
            </a:fld>
            <a:endParaRPr lang="en-IN"/>
          </a:p>
        </p:txBody>
      </p:sp>
    </p:spTree>
    <p:extLst>
      <p:ext uri="{BB962C8B-B14F-4D97-AF65-F5344CB8AC3E}">
        <p14:creationId xmlns:p14="http://schemas.microsoft.com/office/powerpoint/2010/main" val="547728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a:p>
        </p:txBody>
      </p:sp>
      <p:sp>
        <p:nvSpPr>
          <p:cNvPr id="4" name="Slide Number Placeholder 3"/>
          <p:cNvSpPr>
            <a:spLocks noGrp="1"/>
          </p:cNvSpPr>
          <p:nvPr>
            <p:ph type="sldNum" sz="quarter" idx="5"/>
          </p:nvPr>
        </p:nvSpPr>
        <p:spPr/>
        <p:txBody>
          <a:bodyPr/>
          <a:lstStyle/>
          <a:p>
            <a:fld id="{0301E5DB-1C07-426F-BAAE-8F97883E2B20}" type="slidenum">
              <a:rPr lang="en-IN" smtClean="0"/>
              <a:t>12</a:t>
            </a:fld>
            <a:endParaRPr lang="en-IN"/>
          </a:p>
        </p:txBody>
      </p:sp>
    </p:spTree>
    <p:extLst>
      <p:ext uri="{BB962C8B-B14F-4D97-AF65-F5344CB8AC3E}">
        <p14:creationId xmlns:p14="http://schemas.microsoft.com/office/powerpoint/2010/main" val="1598047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01E2E-ECFB-241F-451D-E09A587B6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41377-905E-EC4A-4614-98494D231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9ED2C0-5455-9C7E-ADDD-BD7946B2B45F}"/>
              </a:ext>
            </a:extLst>
          </p:cNvPr>
          <p:cNvSpPr>
            <a:spLocks noGrp="1"/>
          </p:cNvSpPr>
          <p:nvPr>
            <p:ph type="body" idx="1"/>
          </p:nvPr>
        </p:nvSpPr>
        <p:spPr/>
        <p:txBody>
          <a:bodyPr/>
          <a:lstStyle/>
          <a:p>
            <a:pPr>
              <a:buNone/>
            </a:pPr>
            <a:endParaRPr lang="en-US"/>
          </a:p>
        </p:txBody>
      </p:sp>
      <p:sp>
        <p:nvSpPr>
          <p:cNvPr id="4" name="Slide Number Placeholder 3">
            <a:extLst>
              <a:ext uri="{FF2B5EF4-FFF2-40B4-BE49-F238E27FC236}">
                <a16:creationId xmlns:a16="http://schemas.microsoft.com/office/drawing/2014/main" id="{2C3151CC-1EC5-35E3-896C-EDBBE300C2CF}"/>
              </a:ext>
            </a:extLst>
          </p:cNvPr>
          <p:cNvSpPr>
            <a:spLocks noGrp="1"/>
          </p:cNvSpPr>
          <p:nvPr>
            <p:ph type="sldNum" sz="quarter" idx="5"/>
          </p:nvPr>
        </p:nvSpPr>
        <p:spPr/>
        <p:txBody>
          <a:bodyPr/>
          <a:lstStyle/>
          <a:p>
            <a:fld id="{0301E5DB-1C07-426F-BAAE-8F97883E2B20}" type="slidenum">
              <a:rPr lang="en-IN" smtClean="0"/>
              <a:t>13</a:t>
            </a:fld>
            <a:endParaRPr lang="en-IN"/>
          </a:p>
        </p:txBody>
      </p:sp>
    </p:spTree>
    <p:extLst>
      <p:ext uri="{BB962C8B-B14F-4D97-AF65-F5344CB8AC3E}">
        <p14:creationId xmlns:p14="http://schemas.microsoft.com/office/powerpoint/2010/main" val="4242188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3/22/2026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684386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26280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3/22/2026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1414104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987922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04547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236526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167153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3/22/2026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4025879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83430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42225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3/22/2026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2249265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Seven</a:t>
            </a:r>
          </a:p>
          <a:p>
            <a:pPr lvl="7"/>
            <a:r>
              <a:rPr lang="en-US"/>
              <a:t>Eight</a:t>
            </a:r>
          </a:p>
          <a:p>
            <a:pPr lvl="8"/>
            <a:r>
              <a:rPr lang="en-US"/>
              <a:t>nine</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3/22/2026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055820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7.pn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C98ED-8D56-C070-E850-46298F3C5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4FA1E-E76C-42BB-7C4A-0249BB52399C}"/>
              </a:ext>
            </a:extLst>
          </p:cNvPr>
          <p:cNvSpPr>
            <a:spLocks noGrp="1"/>
          </p:cNvSpPr>
          <p:nvPr>
            <p:ph type="ctrTitle"/>
          </p:nvPr>
        </p:nvSpPr>
        <p:spPr>
          <a:xfrm>
            <a:off x="602070" y="757084"/>
            <a:ext cx="10814730" cy="2010228"/>
          </a:xfrm>
        </p:spPr>
        <p:txBody>
          <a:bodyPr>
            <a:normAutofit/>
          </a:bodyPr>
          <a:lstStyle/>
          <a:p>
            <a:r>
              <a:rPr lang="en-IN" sz="3400" b="1"/>
              <a:t>Dell case study-</a:t>
            </a:r>
            <a:r>
              <a:rPr lang="en-IN" sz="2800" b="1"/>
              <a:t> </a:t>
            </a:r>
            <a:br>
              <a:rPr lang="en-IN" sz="2800" b="1">
                <a:solidFill>
                  <a:srgbClr val="1A3260"/>
                </a:solidFill>
                <a:latin typeface="Gill Sans MT"/>
                <a:ea typeface="Calibri"/>
                <a:cs typeface="Calibri"/>
              </a:rPr>
            </a:br>
            <a:r>
              <a:rPr lang="en-IN" sz="2800" b="1">
                <a:solidFill>
                  <a:schemeClr val="accent2"/>
                </a:solidFill>
                <a:latin typeface="Calibri"/>
                <a:ea typeface="Calibri"/>
                <a:cs typeface="Calibri"/>
              </a:rPr>
              <a:t>Kit Cycle Time Prediction Model</a:t>
            </a:r>
            <a:endParaRPr lang="en-US" sz="2800" b="1">
              <a:solidFill>
                <a:schemeClr val="accent2"/>
              </a:solidFill>
            </a:endParaRPr>
          </a:p>
          <a:p>
            <a:endParaRPr lang="en-IN" sz="3400" b="1"/>
          </a:p>
        </p:txBody>
      </p:sp>
      <p:sp>
        <p:nvSpPr>
          <p:cNvPr id="3" name="Subtitle 2">
            <a:extLst>
              <a:ext uri="{FF2B5EF4-FFF2-40B4-BE49-F238E27FC236}">
                <a16:creationId xmlns:a16="http://schemas.microsoft.com/office/drawing/2014/main" id="{C89BEF80-6C0E-93CB-2A9D-73CE3E0C27F1}"/>
              </a:ext>
            </a:extLst>
          </p:cNvPr>
          <p:cNvSpPr>
            <a:spLocks noGrp="1"/>
          </p:cNvSpPr>
          <p:nvPr>
            <p:ph type="subTitle" idx="1"/>
          </p:nvPr>
        </p:nvSpPr>
        <p:spPr>
          <a:xfrm>
            <a:off x="599227" y="2318464"/>
            <a:ext cx="10993546" cy="590321"/>
          </a:xfrm>
        </p:spPr>
        <p:txBody>
          <a:bodyPr/>
          <a:lstStyle/>
          <a:p>
            <a:endParaRPr lang="en-US"/>
          </a:p>
          <a:p>
            <a:endParaRPr lang="en-IN"/>
          </a:p>
        </p:txBody>
      </p:sp>
      <p:sp>
        <p:nvSpPr>
          <p:cNvPr id="6" name="Subtitle 2">
            <a:extLst>
              <a:ext uri="{FF2B5EF4-FFF2-40B4-BE49-F238E27FC236}">
                <a16:creationId xmlns:a16="http://schemas.microsoft.com/office/drawing/2014/main" id="{F34FF594-9010-08A4-3A6C-4C51225ED3EF}"/>
              </a:ext>
            </a:extLst>
          </p:cNvPr>
          <p:cNvSpPr txBox="1">
            <a:spLocks/>
          </p:cNvSpPr>
          <p:nvPr/>
        </p:nvSpPr>
        <p:spPr>
          <a:xfrm>
            <a:off x="599227" y="5443174"/>
            <a:ext cx="5103213" cy="641918"/>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sz="2400">
                <a:solidFill>
                  <a:schemeClr val="bg1"/>
                </a:solidFill>
              </a:rPr>
              <a:t>MAHESWARI </a:t>
            </a:r>
            <a:r>
              <a:rPr lang="en-US" sz="2400" err="1">
                <a:solidFill>
                  <a:schemeClr val="bg1"/>
                </a:solidFill>
              </a:rPr>
              <a:t>bOLLIMUNTHA</a:t>
            </a:r>
            <a:endParaRPr lang="en-US" sz="2400">
              <a:solidFill>
                <a:schemeClr val="bg1"/>
              </a:solidFill>
            </a:endParaRPr>
          </a:p>
          <a:p>
            <a:endParaRPr lang="en-IN"/>
          </a:p>
        </p:txBody>
      </p:sp>
    </p:spTree>
    <p:extLst>
      <p:ext uri="{BB962C8B-B14F-4D97-AF65-F5344CB8AC3E}">
        <p14:creationId xmlns:p14="http://schemas.microsoft.com/office/powerpoint/2010/main" val="3190077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B2E789-F213-4C28-57F2-C758F0D1E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5DFF2-5DA8-5B60-26D1-A946ED2800A3}"/>
              </a:ext>
            </a:extLst>
          </p:cNvPr>
          <p:cNvSpPr>
            <a:spLocks noGrp="1"/>
          </p:cNvSpPr>
          <p:nvPr>
            <p:ph type="title"/>
          </p:nvPr>
        </p:nvSpPr>
        <p:spPr/>
        <p:txBody>
          <a:bodyPr>
            <a:normAutofit/>
          </a:bodyPr>
          <a:lstStyle/>
          <a:p>
            <a:r>
              <a:rPr lang="en-IN" b="1">
                <a:solidFill>
                  <a:srgbClr val="FFFEFF"/>
                </a:solidFill>
              </a:rPr>
              <a:t>Problem Statement and objective</a:t>
            </a:r>
            <a:br>
              <a:rPr lang="en-IN" b="1"/>
            </a:br>
            <a:endParaRPr lang="en-IN">
              <a:solidFill>
                <a:srgbClr val="FFFEFF"/>
              </a:solidFill>
            </a:endParaRPr>
          </a:p>
        </p:txBody>
      </p:sp>
      <p:graphicFrame>
        <p:nvGraphicFramePr>
          <p:cNvPr id="113" name="Content Placeholder 2">
            <a:extLst>
              <a:ext uri="{FF2B5EF4-FFF2-40B4-BE49-F238E27FC236}">
                <a16:creationId xmlns:a16="http://schemas.microsoft.com/office/drawing/2014/main" id="{7376DEEA-D528-E475-A127-34CA4F3DF6E0}"/>
              </a:ext>
            </a:extLst>
          </p:cNvPr>
          <p:cNvGraphicFramePr>
            <a:graphicFrameLocks noGrp="1"/>
          </p:cNvGraphicFramePr>
          <p:nvPr>
            <p:ph idx="1"/>
            <p:extLst>
              <p:ext uri="{D42A27DB-BD31-4B8C-83A1-F6EECF244321}">
                <p14:modId xmlns:p14="http://schemas.microsoft.com/office/powerpoint/2010/main" val="3468674749"/>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3914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8CA9B5-0DEC-D845-87E3-28469D1F444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ABD8CBF-1782-456F-AF12-36CD021CC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8A186C0-DD3C-4FF4-B165-943244CBD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042EBD1-2DFB-4955-44C0-7D81BC36703C}"/>
              </a:ext>
            </a:extLst>
          </p:cNvPr>
          <p:cNvSpPr>
            <a:spLocks noGrp="1"/>
          </p:cNvSpPr>
          <p:nvPr>
            <p:ph type="title"/>
          </p:nvPr>
        </p:nvSpPr>
        <p:spPr>
          <a:xfrm>
            <a:off x="581192" y="702156"/>
            <a:ext cx="11029616" cy="1013800"/>
          </a:xfrm>
        </p:spPr>
        <p:txBody>
          <a:bodyPr>
            <a:normAutofit/>
          </a:bodyPr>
          <a:lstStyle/>
          <a:p>
            <a:r>
              <a:rPr lang="en-IN"/>
              <a:t>METHODOLOGY</a:t>
            </a:r>
          </a:p>
        </p:txBody>
      </p:sp>
      <p:grpSp>
        <p:nvGrpSpPr>
          <p:cNvPr id="9" name="Group 8">
            <a:extLst>
              <a:ext uri="{FF2B5EF4-FFF2-40B4-BE49-F238E27FC236}">
                <a16:creationId xmlns:a16="http://schemas.microsoft.com/office/drawing/2014/main" id="{7E6B15A5-F4B5-4786-934F-E57C7FA302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64C8356C-9FE6-4DFB-8DBF-FDC1EE310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5DDAF1C0-5210-43EC-A140-4032C6EBE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71A89CEF-B8CB-4CA8-BD58-AE4392F25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graphicFrame>
        <p:nvGraphicFramePr>
          <p:cNvPr id="5" name="Content Placeholder 2">
            <a:extLst>
              <a:ext uri="{FF2B5EF4-FFF2-40B4-BE49-F238E27FC236}">
                <a16:creationId xmlns:a16="http://schemas.microsoft.com/office/drawing/2014/main" id="{8CAE8E08-A5A7-2CB5-6AFB-8804E3C98DE4}"/>
              </a:ext>
            </a:extLst>
          </p:cNvPr>
          <p:cNvGraphicFramePr>
            <a:graphicFrameLocks noGrp="1"/>
          </p:cNvGraphicFramePr>
          <p:nvPr>
            <p:ph idx="1"/>
            <p:extLst>
              <p:ext uri="{D42A27DB-BD31-4B8C-83A1-F6EECF244321}">
                <p14:modId xmlns:p14="http://schemas.microsoft.com/office/powerpoint/2010/main" val="2148703043"/>
              </p:ext>
            </p:extLst>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97253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BD2B43-B18D-6BF9-074E-625A12848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DCC26-A87B-0573-B3A3-F87F1AD4448E}"/>
              </a:ext>
            </a:extLst>
          </p:cNvPr>
          <p:cNvSpPr>
            <a:spLocks noGrp="1"/>
          </p:cNvSpPr>
          <p:nvPr>
            <p:ph type="title"/>
          </p:nvPr>
        </p:nvSpPr>
        <p:spPr/>
        <p:txBody>
          <a:bodyPr>
            <a:normAutofit/>
          </a:bodyPr>
          <a:lstStyle/>
          <a:p>
            <a:r>
              <a:rPr lang="en-IN" b="1"/>
              <a:t>Data Sources</a:t>
            </a:r>
            <a:endParaRPr lang="en-IN"/>
          </a:p>
        </p:txBody>
      </p:sp>
      <p:sp>
        <p:nvSpPr>
          <p:cNvPr id="3" name="Content Placeholder 2">
            <a:extLst>
              <a:ext uri="{FF2B5EF4-FFF2-40B4-BE49-F238E27FC236}">
                <a16:creationId xmlns:a16="http://schemas.microsoft.com/office/drawing/2014/main" id="{DDD2C413-3D6A-E16F-5110-4C5B339C74BC}"/>
              </a:ext>
            </a:extLst>
          </p:cNvPr>
          <p:cNvSpPr>
            <a:spLocks noGrp="1"/>
          </p:cNvSpPr>
          <p:nvPr>
            <p:ph idx="1"/>
          </p:nvPr>
        </p:nvSpPr>
        <p:spPr>
          <a:xfrm>
            <a:off x="6335805" y="2180496"/>
            <a:ext cx="5275001" cy="4045683"/>
          </a:xfrm>
        </p:spPr>
        <p:txBody>
          <a:bodyPr>
            <a:normAutofit/>
          </a:bodyPr>
          <a:lstStyle/>
          <a:p>
            <a:pPr marL="305435" indent="-305435"/>
            <a:endParaRPr lang="en-IN" sz="1700" b="1"/>
          </a:p>
          <a:p>
            <a:endParaRPr lang="en-IN" sz="1700"/>
          </a:p>
        </p:txBody>
      </p:sp>
      <p:pic>
        <p:nvPicPr>
          <p:cNvPr id="6" name="Picture 5" descr="A diagram of a product&#10;&#10;AI-generated content may be incorrect.">
            <a:extLst>
              <a:ext uri="{FF2B5EF4-FFF2-40B4-BE49-F238E27FC236}">
                <a16:creationId xmlns:a16="http://schemas.microsoft.com/office/drawing/2014/main" id="{ED36C52C-0C00-CEBC-5CC6-8D734F4DE968}"/>
              </a:ext>
            </a:extLst>
          </p:cNvPr>
          <p:cNvPicPr>
            <a:picLocks noChangeAspect="1"/>
          </p:cNvPicPr>
          <p:nvPr/>
        </p:nvPicPr>
        <p:blipFill>
          <a:blip r:embed="rId3"/>
          <a:stretch>
            <a:fillRect/>
          </a:stretch>
        </p:blipFill>
        <p:spPr>
          <a:xfrm>
            <a:off x="453129" y="1896676"/>
            <a:ext cx="7330364" cy="4955925"/>
          </a:xfrm>
          <a:prstGeom prst="rect">
            <a:avLst/>
          </a:prstGeom>
        </p:spPr>
      </p:pic>
      <p:graphicFrame>
        <p:nvGraphicFramePr>
          <p:cNvPr id="12" name="TextBox 7">
            <a:extLst>
              <a:ext uri="{FF2B5EF4-FFF2-40B4-BE49-F238E27FC236}">
                <a16:creationId xmlns:a16="http://schemas.microsoft.com/office/drawing/2014/main" id="{B94D4755-2D52-8489-92D3-B65D9581658F}"/>
              </a:ext>
            </a:extLst>
          </p:cNvPr>
          <p:cNvGraphicFramePr/>
          <p:nvPr>
            <p:extLst>
              <p:ext uri="{D42A27DB-BD31-4B8C-83A1-F6EECF244321}">
                <p14:modId xmlns:p14="http://schemas.microsoft.com/office/powerpoint/2010/main" val="1172146705"/>
              </p:ext>
            </p:extLst>
          </p:nvPr>
        </p:nvGraphicFramePr>
        <p:xfrm>
          <a:off x="7903852" y="2370970"/>
          <a:ext cx="3979200" cy="326296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01495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5745DC5-4EC2-895A-F508-16AC4E891C62}"/>
              </a:ext>
            </a:extLst>
          </p:cNvPr>
          <p:cNvGraphicFramePr>
            <a:graphicFrameLocks noGrp="1"/>
          </p:cNvGraphicFramePr>
          <p:nvPr>
            <p:extLst>
              <p:ext uri="{D42A27DB-BD31-4B8C-83A1-F6EECF244321}">
                <p14:modId xmlns:p14="http://schemas.microsoft.com/office/powerpoint/2010/main" val="3140092371"/>
              </p:ext>
            </p:extLst>
          </p:nvPr>
        </p:nvGraphicFramePr>
        <p:xfrm>
          <a:off x="334027" y="1858027"/>
          <a:ext cx="11554118" cy="2577531"/>
        </p:xfrm>
        <a:graphic>
          <a:graphicData uri="http://schemas.openxmlformats.org/drawingml/2006/table">
            <a:tbl>
              <a:tblPr bandRow="1">
                <a:tableStyleId>{C083E6E3-FA7D-4D7B-A595-EF9225AFEA82}</a:tableStyleId>
              </a:tblPr>
              <a:tblGrid>
                <a:gridCol w="2467706">
                  <a:extLst>
                    <a:ext uri="{9D8B030D-6E8A-4147-A177-3AD203B41FA5}">
                      <a16:colId xmlns:a16="http://schemas.microsoft.com/office/drawing/2014/main" val="4041568138"/>
                    </a:ext>
                  </a:extLst>
                </a:gridCol>
                <a:gridCol w="1338387">
                  <a:extLst>
                    <a:ext uri="{9D8B030D-6E8A-4147-A177-3AD203B41FA5}">
                      <a16:colId xmlns:a16="http://schemas.microsoft.com/office/drawing/2014/main" val="2520428458"/>
                    </a:ext>
                  </a:extLst>
                </a:gridCol>
                <a:gridCol w="7748025">
                  <a:extLst>
                    <a:ext uri="{9D8B030D-6E8A-4147-A177-3AD203B41FA5}">
                      <a16:colId xmlns:a16="http://schemas.microsoft.com/office/drawing/2014/main" val="2000702117"/>
                    </a:ext>
                  </a:extLst>
                </a:gridCol>
              </a:tblGrid>
              <a:tr h="520848">
                <a:tc>
                  <a:txBody>
                    <a:bodyPr/>
                    <a:lstStyle/>
                    <a:p>
                      <a:pPr>
                        <a:buNone/>
                      </a:pPr>
                      <a:r>
                        <a:rPr lang="en-US" sz="1400" b="1"/>
                        <a:t>Issue</a:t>
                      </a:r>
                    </a:p>
                  </a:txBody>
                  <a:tcPr anchor="ctr"/>
                </a:tc>
                <a:tc>
                  <a:txBody>
                    <a:bodyPr/>
                    <a:lstStyle/>
                    <a:p>
                      <a:pPr>
                        <a:buNone/>
                      </a:pPr>
                      <a:r>
                        <a:rPr lang="en-US" sz="1400" b="1"/>
                        <a:t>Rows Affected</a:t>
                      </a:r>
                    </a:p>
                  </a:txBody>
                  <a:tcPr anchor="ctr"/>
                </a:tc>
                <a:tc>
                  <a:txBody>
                    <a:bodyPr/>
                    <a:lstStyle/>
                    <a:p>
                      <a:pPr>
                        <a:buNone/>
                      </a:pPr>
                      <a:r>
                        <a:rPr lang="en-US" sz="1400" b="1"/>
                        <a:t>Fix Applied (Reason)</a:t>
                      </a:r>
                    </a:p>
                  </a:txBody>
                  <a:tcPr anchor="ctr"/>
                </a:tc>
                <a:extLst>
                  <a:ext uri="{0D108BD9-81ED-4DB2-BD59-A6C34878D82A}">
                    <a16:rowId xmlns:a16="http://schemas.microsoft.com/office/drawing/2014/main" val="444775318"/>
                  </a:ext>
                </a:extLst>
              </a:tr>
              <a:tr h="307167">
                <a:tc>
                  <a:txBody>
                    <a:bodyPr/>
                    <a:lstStyle/>
                    <a:p>
                      <a:pPr>
                        <a:buNone/>
                      </a:pPr>
                      <a:r>
                        <a:rPr lang="en-US" sz="1400"/>
                        <a:t>Missing </a:t>
                      </a:r>
                      <a:r>
                        <a:rPr lang="en-US" sz="1400" err="1"/>
                        <a:t>download_date</a:t>
                      </a:r>
                    </a:p>
                  </a:txBody>
                  <a:tcPr anchor="ctr"/>
                </a:tc>
                <a:tc>
                  <a:txBody>
                    <a:bodyPr/>
                    <a:lstStyle/>
                    <a:p>
                      <a:pPr>
                        <a:buNone/>
                      </a:pPr>
                      <a:r>
                        <a:rPr lang="en-US" sz="1400"/>
                        <a:t>5 rows</a:t>
                      </a:r>
                    </a:p>
                  </a:txBody>
                  <a:tcPr anchor="ctr"/>
                </a:tc>
                <a:tc>
                  <a:txBody>
                    <a:bodyPr/>
                    <a:lstStyle/>
                    <a:p>
                      <a:pPr>
                        <a:buNone/>
                      </a:pPr>
                      <a:r>
                        <a:rPr lang="en-US" sz="1400"/>
                        <a:t>Removed rows due to insufficient information to compute lead time features</a:t>
                      </a:r>
                    </a:p>
                  </a:txBody>
                  <a:tcPr anchor="ctr"/>
                </a:tc>
                <a:extLst>
                  <a:ext uri="{0D108BD9-81ED-4DB2-BD59-A6C34878D82A}">
                    <a16:rowId xmlns:a16="http://schemas.microsoft.com/office/drawing/2014/main" val="3286625493"/>
                  </a:ext>
                </a:extLst>
              </a:tr>
              <a:tr h="307167">
                <a:tc>
                  <a:txBody>
                    <a:bodyPr/>
                    <a:lstStyle/>
                    <a:p>
                      <a:pPr>
                        <a:buNone/>
                      </a:pPr>
                      <a:r>
                        <a:rPr lang="en-US" sz="1400" err="1"/>
                        <a:t>kit_end</a:t>
                      </a:r>
                      <a:r>
                        <a:rPr lang="en-US" sz="1400"/>
                        <a:t> &lt; </a:t>
                      </a:r>
                      <a:r>
                        <a:rPr lang="en-US" sz="1400" err="1"/>
                        <a:t>kit_start</a:t>
                      </a:r>
                    </a:p>
                  </a:txBody>
                  <a:tcPr anchor="ctr"/>
                </a:tc>
                <a:tc>
                  <a:txBody>
                    <a:bodyPr/>
                    <a:lstStyle/>
                    <a:p>
                      <a:pPr>
                        <a:buNone/>
                      </a:pPr>
                      <a:r>
                        <a:rPr lang="en-US" sz="1400"/>
                        <a:t>734 rows</a:t>
                      </a:r>
                    </a:p>
                  </a:txBody>
                  <a:tcPr anchor="ctr"/>
                </a:tc>
                <a:tc>
                  <a:txBody>
                    <a:bodyPr/>
                    <a:lstStyle/>
                    <a:p>
                      <a:pPr>
                        <a:buNone/>
                      </a:pPr>
                      <a:r>
                        <a:rPr lang="en-US" sz="1400"/>
                        <a:t>Removed invalid records where the end time occurs before the start time</a:t>
                      </a:r>
                    </a:p>
                  </a:txBody>
                  <a:tcPr anchor="ctr"/>
                </a:tc>
                <a:extLst>
                  <a:ext uri="{0D108BD9-81ED-4DB2-BD59-A6C34878D82A}">
                    <a16:rowId xmlns:a16="http://schemas.microsoft.com/office/drawing/2014/main" val="3363479539"/>
                  </a:ext>
                </a:extLst>
              </a:tr>
              <a:tr h="307167">
                <a:tc>
                  <a:txBody>
                    <a:bodyPr/>
                    <a:lstStyle/>
                    <a:p>
                      <a:pPr>
                        <a:buNone/>
                      </a:pPr>
                      <a:r>
                        <a:rPr lang="en-US" sz="1400" err="1"/>
                        <a:t>quantity_produced</a:t>
                      </a:r>
                      <a:r>
                        <a:rPr lang="en-US" sz="1400"/>
                        <a:t> ≤ 0</a:t>
                      </a:r>
                    </a:p>
                  </a:txBody>
                  <a:tcPr anchor="ctr"/>
                </a:tc>
                <a:tc>
                  <a:txBody>
                    <a:bodyPr/>
                    <a:lstStyle/>
                    <a:p>
                      <a:pPr>
                        <a:buNone/>
                      </a:pPr>
                      <a:r>
                        <a:rPr lang="en-US" sz="1400"/>
                        <a:t>4 rows</a:t>
                      </a:r>
                    </a:p>
                  </a:txBody>
                  <a:tcPr anchor="ctr"/>
                </a:tc>
                <a:tc>
                  <a:txBody>
                    <a:bodyPr/>
                    <a:lstStyle/>
                    <a:p>
                      <a:pPr>
                        <a:buNone/>
                      </a:pPr>
                      <a:r>
                        <a:rPr lang="en-US" sz="1400"/>
                        <a:t>Removed unrealistic records with zero or negative production values</a:t>
                      </a:r>
                    </a:p>
                  </a:txBody>
                  <a:tcPr anchor="ctr"/>
                </a:tc>
                <a:extLst>
                  <a:ext uri="{0D108BD9-81ED-4DB2-BD59-A6C34878D82A}">
                    <a16:rowId xmlns:a16="http://schemas.microsoft.com/office/drawing/2014/main" val="2090699737"/>
                  </a:ext>
                </a:extLst>
              </a:tr>
              <a:tr h="520848">
                <a:tc>
                  <a:txBody>
                    <a:bodyPr/>
                    <a:lstStyle/>
                    <a:p>
                      <a:pPr>
                        <a:buNone/>
                      </a:pPr>
                      <a:r>
                        <a:rPr lang="en-US" sz="1400" err="1"/>
                        <a:t>NaN</a:t>
                      </a:r>
                      <a:r>
                        <a:rPr lang="en-US" sz="1400"/>
                        <a:t> after </a:t>
                      </a:r>
                      <a:r>
                        <a:rPr lang="en-US" sz="1400" err="1"/>
                        <a:t>expected_minutes</a:t>
                      </a:r>
                      <a:r>
                        <a:rPr lang="en-US" sz="1400"/>
                        <a:t> join</a:t>
                      </a:r>
                    </a:p>
                  </a:txBody>
                  <a:tcPr anchor="ctr"/>
                </a:tc>
                <a:tc>
                  <a:txBody>
                    <a:bodyPr/>
                    <a:lstStyle/>
                    <a:p>
                      <a:pPr>
                        <a:buNone/>
                      </a:pPr>
                      <a:r>
                        <a:rPr lang="en-US" sz="1400"/>
                        <a:t>~24% of rows</a:t>
                      </a:r>
                    </a:p>
                  </a:txBody>
                  <a:tcPr anchor="ctr"/>
                </a:tc>
                <a:tc>
                  <a:txBody>
                    <a:bodyPr/>
                    <a:lstStyle/>
                    <a:p>
                      <a:pPr>
                        <a:buNone/>
                      </a:pPr>
                      <a:r>
                        <a:rPr lang="en-US" sz="1400"/>
                        <a:t>Imputed using median values to maintain consistency without skewing distribution</a:t>
                      </a:r>
                    </a:p>
                  </a:txBody>
                  <a:tcPr anchor="ctr"/>
                </a:tc>
                <a:extLst>
                  <a:ext uri="{0D108BD9-81ED-4DB2-BD59-A6C34878D82A}">
                    <a16:rowId xmlns:a16="http://schemas.microsoft.com/office/drawing/2014/main" val="3995287811"/>
                  </a:ext>
                </a:extLst>
              </a:tr>
              <a:tr h="307167">
                <a:tc>
                  <a:txBody>
                    <a:bodyPr/>
                    <a:lstStyle/>
                    <a:p>
                      <a:pPr>
                        <a:buNone/>
                      </a:pPr>
                      <a:r>
                        <a:rPr lang="en-US" sz="1400" err="1"/>
                        <a:t>NaN</a:t>
                      </a:r>
                      <a:r>
                        <a:rPr lang="en-US" sz="1400"/>
                        <a:t> after calendar join</a:t>
                      </a:r>
                    </a:p>
                  </a:txBody>
                  <a:tcPr anchor="ctr"/>
                </a:tc>
                <a:tc>
                  <a:txBody>
                    <a:bodyPr/>
                    <a:lstStyle/>
                    <a:p>
                      <a:pPr>
                        <a:buNone/>
                      </a:pPr>
                      <a:r>
                        <a:rPr lang="en-US" sz="1400"/>
                        <a:t>minimal</a:t>
                      </a:r>
                    </a:p>
                  </a:txBody>
                  <a:tcPr anchor="ctr"/>
                </a:tc>
                <a:tc>
                  <a:txBody>
                    <a:bodyPr/>
                    <a:lstStyle/>
                    <a:p>
                      <a:pPr>
                        <a:buNone/>
                      </a:pPr>
                      <a:r>
                        <a:rPr lang="en-US" sz="1400"/>
                        <a:t>Replaced missing flags with 0 and numeric values with median to preserve logical defaults</a:t>
                      </a:r>
                    </a:p>
                  </a:txBody>
                  <a:tcPr anchor="ctr"/>
                </a:tc>
                <a:extLst>
                  <a:ext uri="{0D108BD9-81ED-4DB2-BD59-A6C34878D82A}">
                    <a16:rowId xmlns:a16="http://schemas.microsoft.com/office/drawing/2014/main" val="2208772526"/>
                  </a:ext>
                </a:extLst>
              </a:tr>
              <a:tr h="307167">
                <a:tc>
                  <a:txBody>
                    <a:bodyPr/>
                    <a:lstStyle/>
                    <a:p>
                      <a:pPr>
                        <a:buNone/>
                      </a:pPr>
                      <a:r>
                        <a:rPr lang="en-US" sz="1400" err="1"/>
                        <a:t>NaN</a:t>
                      </a:r>
                      <a:r>
                        <a:rPr lang="en-US" sz="1400"/>
                        <a:t> after capacity join</a:t>
                      </a:r>
                    </a:p>
                  </a:txBody>
                  <a:tcPr anchor="ctr"/>
                </a:tc>
                <a:tc>
                  <a:txBody>
                    <a:bodyPr/>
                    <a:lstStyle/>
                    <a:p>
                      <a:pPr>
                        <a:buNone/>
                      </a:pPr>
                      <a:r>
                        <a:rPr lang="en-US" sz="1400"/>
                        <a:t>minimal</a:t>
                      </a:r>
                    </a:p>
                  </a:txBody>
                  <a:tcPr anchor="ctr"/>
                </a:tc>
                <a:tc>
                  <a:txBody>
                    <a:bodyPr/>
                    <a:lstStyle/>
                    <a:p>
                      <a:pPr>
                        <a:buNone/>
                      </a:pPr>
                      <a:r>
                        <a:rPr lang="en-US" sz="1400"/>
                        <a:t>Treated missing capacity as zero, assuming no recorded capacity for that day</a:t>
                      </a:r>
                    </a:p>
                  </a:txBody>
                  <a:tcPr anchor="ctr"/>
                </a:tc>
                <a:extLst>
                  <a:ext uri="{0D108BD9-81ED-4DB2-BD59-A6C34878D82A}">
                    <a16:rowId xmlns:a16="http://schemas.microsoft.com/office/drawing/2014/main" val="1339017780"/>
                  </a:ext>
                </a:extLst>
              </a:tr>
            </a:tbl>
          </a:graphicData>
        </a:graphic>
      </p:graphicFrame>
      <p:sp>
        <p:nvSpPr>
          <p:cNvPr id="4" name="Title 1">
            <a:extLst>
              <a:ext uri="{FF2B5EF4-FFF2-40B4-BE49-F238E27FC236}">
                <a16:creationId xmlns:a16="http://schemas.microsoft.com/office/drawing/2014/main" id="{DB32CD8B-74D4-1C07-2C1B-F2264C8D06B9}"/>
              </a:ext>
            </a:extLst>
          </p:cNvPr>
          <p:cNvSpPr txBox="1">
            <a:spLocks/>
          </p:cNvSpPr>
          <p:nvPr/>
        </p:nvSpPr>
        <p:spPr>
          <a:xfrm>
            <a:off x="733592" y="1292966"/>
            <a:ext cx="11029616" cy="773719"/>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400" b="1"/>
              <a:t>Data Exploration and cleaning</a:t>
            </a:r>
          </a:p>
          <a:p>
            <a:r>
              <a:rPr lang="en-US" sz="2400" b="1"/>
              <a:t>Data Quality Issues &amp; Fixes, </a:t>
            </a:r>
            <a:r>
              <a:rPr lang="en-US" sz="2400" b="1" err="1"/>
              <a:t>NaN</a:t>
            </a:r>
            <a:r>
              <a:rPr lang="en-US" sz="2400" b="1"/>
              <a:t> Handling Strategy, Cleaning Results</a:t>
            </a:r>
          </a:p>
          <a:p>
            <a:endParaRPr lang="en-US" sz="2000" b="1">
              <a:solidFill>
                <a:srgbClr val="000000"/>
              </a:solidFill>
            </a:endParaRPr>
          </a:p>
        </p:txBody>
      </p:sp>
      <p:graphicFrame>
        <p:nvGraphicFramePr>
          <p:cNvPr id="7" name="Table 6">
            <a:extLst>
              <a:ext uri="{FF2B5EF4-FFF2-40B4-BE49-F238E27FC236}">
                <a16:creationId xmlns:a16="http://schemas.microsoft.com/office/drawing/2014/main" id="{095C3FAF-09DD-446A-3BEE-14AF6A858293}"/>
              </a:ext>
            </a:extLst>
          </p:cNvPr>
          <p:cNvGraphicFramePr>
            <a:graphicFrameLocks noGrp="1"/>
          </p:cNvGraphicFramePr>
          <p:nvPr>
            <p:extLst>
              <p:ext uri="{D42A27DB-BD31-4B8C-83A1-F6EECF244321}">
                <p14:modId xmlns:p14="http://schemas.microsoft.com/office/powerpoint/2010/main" val="1114994354"/>
              </p:ext>
            </p:extLst>
          </p:nvPr>
        </p:nvGraphicFramePr>
        <p:xfrm>
          <a:off x="407095" y="4686821"/>
          <a:ext cx="5800195" cy="2102574"/>
        </p:xfrm>
        <a:graphic>
          <a:graphicData uri="http://schemas.openxmlformats.org/drawingml/2006/table">
            <a:tbl>
              <a:tblPr bandRow="1">
                <a:tableStyleId>{5C22544A-7EE6-4342-B048-85BDC9FD1C3A}</a:tableStyleId>
              </a:tblPr>
              <a:tblGrid>
                <a:gridCol w="3005463">
                  <a:extLst>
                    <a:ext uri="{9D8B030D-6E8A-4147-A177-3AD203B41FA5}">
                      <a16:colId xmlns:a16="http://schemas.microsoft.com/office/drawing/2014/main" val="4053390211"/>
                    </a:ext>
                  </a:extLst>
                </a:gridCol>
                <a:gridCol w="2794732">
                  <a:extLst>
                    <a:ext uri="{9D8B030D-6E8A-4147-A177-3AD203B41FA5}">
                      <a16:colId xmlns:a16="http://schemas.microsoft.com/office/drawing/2014/main" val="3046511043"/>
                    </a:ext>
                  </a:extLst>
                </a:gridCol>
              </a:tblGrid>
              <a:tr h="231901">
                <a:tc>
                  <a:txBody>
                    <a:bodyPr/>
                    <a:lstStyle/>
                    <a:p>
                      <a:pPr algn="l" rtl="0" fontAlgn="base">
                        <a:lnSpc>
                          <a:spcPts val="975"/>
                        </a:lnSpc>
                        <a:buNone/>
                      </a:pPr>
                      <a:r>
                        <a:rPr lang="en-US" sz="1400" b="0" i="0">
                          <a:solidFill>
                            <a:schemeClr val="tx1"/>
                          </a:solidFill>
                          <a:effectLst/>
                          <a:latin typeface="Gill Sans MT"/>
                        </a:rPr>
                        <a:t>Feature Type</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tc>
                  <a:txBody>
                    <a:bodyPr/>
                    <a:lstStyle/>
                    <a:p>
                      <a:pPr algn="l" rtl="0" fontAlgn="base">
                        <a:lnSpc>
                          <a:spcPts val="975"/>
                        </a:lnSpc>
                        <a:buNone/>
                      </a:pPr>
                      <a:r>
                        <a:rPr lang="en-US" sz="1400" b="0" i="0">
                          <a:solidFill>
                            <a:schemeClr val="tx1"/>
                          </a:solidFill>
                          <a:effectLst/>
                          <a:latin typeface="Gill Sans MT"/>
                        </a:rPr>
                        <a:t>Handling Strategy</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2355284282"/>
                  </a:ext>
                </a:extLst>
              </a:tr>
              <a:tr h="386503">
                <a:tc>
                  <a:txBody>
                    <a:bodyPr/>
                    <a:lstStyle/>
                    <a:p>
                      <a:pPr algn="l" rtl="0" fontAlgn="base">
                        <a:lnSpc>
                          <a:spcPts val="975"/>
                        </a:lnSpc>
                        <a:buNone/>
                      </a:pPr>
                      <a:r>
                        <a:rPr lang="en-US" sz="1400" b="0" i="0">
                          <a:solidFill>
                            <a:srgbClr val="000000"/>
                          </a:solidFill>
                          <a:effectLst/>
                          <a:latin typeface="Gill Sans MT"/>
                        </a:rPr>
                        <a:t>Binary flags (</a:t>
                      </a:r>
                      <a:r>
                        <a:rPr lang="en-US" sz="1400" b="0" i="0" err="1">
                          <a:solidFill>
                            <a:srgbClr val="000000"/>
                          </a:solidFill>
                          <a:effectLst/>
                          <a:latin typeface="Gill Sans MT"/>
                        </a:rPr>
                        <a:t>is_weekend</a:t>
                      </a:r>
                      <a:r>
                        <a:rPr lang="en-US" sz="1400" b="0" i="0">
                          <a:solidFill>
                            <a:srgbClr val="000000"/>
                          </a:solidFill>
                          <a:effectLst/>
                          <a:latin typeface="Gill Sans MT"/>
                        </a:rPr>
                        <a:t>, </a:t>
                      </a:r>
                      <a:r>
                        <a:rPr lang="en-US" sz="1400" b="0" i="0" err="1">
                          <a:solidFill>
                            <a:srgbClr val="000000"/>
                          </a:solidFill>
                          <a:effectLst/>
                          <a:latin typeface="Gill Sans MT"/>
                        </a:rPr>
                        <a:t>is_holiday</a:t>
                      </a:r>
                      <a:r>
                        <a:rPr lang="en-US" sz="1400" b="0" i="0">
                          <a:solidFill>
                            <a:srgbClr val="000000"/>
                          </a:solidFill>
                          <a:effectLst/>
                          <a:latin typeface="Gill Sans MT"/>
                        </a:rPr>
                        <a:t>, </a:t>
                      </a:r>
                      <a:r>
                        <a:rPr lang="en-US" sz="1400" b="0" i="0" err="1">
                          <a:solidFill>
                            <a:srgbClr val="000000"/>
                          </a:solidFill>
                          <a:effectLst/>
                          <a:latin typeface="Gill Sans MT"/>
                        </a:rPr>
                        <a:t>is_idc</a:t>
                      </a:r>
                      <a:r>
                        <a:rPr lang="en-US" sz="1400" b="0" i="0">
                          <a:solidFill>
                            <a:srgbClr val="000000"/>
                          </a:solidFill>
                          <a:effectLst/>
                          <a:latin typeface="Gill Sans MT"/>
                        </a:rPr>
                        <a:t>, </a:t>
                      </a:r>
                      <a:r>
                        <a:rPr lang="en-US" sz="1400" b="0" i="0" err="1">
                          <a:solidFill>
                            <a:srgbClr val="000000"/>
                          </a:solidFill>
                          <a:effectLst/>
                          <a:latin typeface="Gill Sans MT"/>
                        </a:rPr>
                        <a:t>is_eoq</a:t>
                      </a:r>
                      <a:r>
                        <a:rPr lang="en-US" sz="1400" b="0" i="0">
                          <a:solidFill>
                            <a:srgbClr val="000000"/>
                          </a:solidFill>
                          <a:effectLst/>
                          <a:latin typeface="Gill Sans MT"/>
                        </a:rPr>
                        <a:t>)</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975"/>
                        </a:lnSpc>
                        <a:buNone/>
                      </a:pPr>
                      <a:r>
                        <a:rPr lang="en-US" sz="1400" b="0" i="0">
                          <a:solidFill>
                            <a:srgbClr val="000000"/>
                          </a:solidFill>
                          <a:effectLst/>
                          <a:latin typeface="Gill Sans MT"/>
                        </a:rPr>
                        <a:t>Fill with 0</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7268692"/>
                  </a:ext>
                </a:extLst>
              </a:tr>
              <a:tr h="386503">
                <a:tc>
                  <a:txBody>
                    <a:bodyPr/>
                    <a:lstStyle/>
                    <a:p>
                      <a:pPr algn="l" rtl="0" fontAlgn="base">
                        <a:lnSpc>
                          <a:spcPts val="975"/>
                        </a:lnSpc>
                        <a:buNone/>
                      </a:pPr>
                      <a:r>
                        <a:rPr lang="en-US" sz="1400" b="0" i="0">
                          <a:solidFill>
                            <a:srgbClr val="000000"/>
                          </a:solidFill>
                          <a:effectLst/>
                          <a:latin typeface="Gill Sans MT"/>
                        </a:rPr>
                        <a:t>Numeric calendar fields (</a:t>
                      </a:r>
                      <a:r>
                        <a:rPr lang="en-US" sz="1400" b="0" i="0" err="1">
                          <a:solidFill>
                            <a:srgbClr val="000000"/>
                          </a:solidFill>
                          <a:effectLst/>
                          <a:latin typeface="Gill Sans MT"/>
                        </a:rPr>
                        <a:t>weeknum</a:t>
                      </a:r>
                      <a:r>
                        <a:rPr lang="en-US" sz="1400" b="0" i="0">
                          <a:solidFill>
                            <a:srgbClr val="000000"/>
                          </a:solidFill>
                          <a:effectLst/>
                          <a:latin typeface="Gill Sans MT"/>
                        </a:rPr>
                        <a:t>, month, year)</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975"/>
                        </a:lnSpc>
                        <a:buNone/>
                      </a:pPr>
                      <a:r>
                        <a:rPr lang="en-US" sz="1400" b="0" i="0">
                          <a:solidFill>
                            <a:srgbClr val="000000"/>
                          </a:solidFill>
                          <a:effectLst/>
                          <a:latin typeface="Gill Sans MT"/>
                        </a:rPr>
                        <a:t>Fill with training median</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49077381"/>
                  </a:ext>
                </a:extLst>
              </a:tr>
              <a:tr h="355582">
                <a:tc>
                  <a:txBody>
                    <a:bodyPr/>
                    <a:lstStyle/>
                    <a:p>
                      <a:pPr algn="l" rtl="0" fontAlgn="base">
                        <a:lnSpc>
                          <a:spcPts val="975"/>
                        </a:lnSpc>
                        <a:buNone/>
                      </a:pPr>
                      <a:r>
                        <a:rPr lang="en-US" sz="1400" b="0" i="0">
                          <a:solidFill>
                            <a:srgbClr val="000000"/>
                          </a:solidFill>
                          <a:effectLst/>
                          <a:latin typeface="Gill Sans MT"/>
                        </a:rPr>
                        <a:t>Expected minutes (kit, build, burn)</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975"/>
                        </a:lnSpc>
                        <a:buNone/>
                      </a:pPr>
                      <a:r>
                        <a:rPr lang="en-US" sz="1400" b="0" i="0">
                          <a:solidFill>
                            <a:srgbClr val="000000"/>
                          </a:solidFill>
                          <a:effectLst/>
                          <a:latin typeface="Gill Sans MT"/>
                        </a:rPr>
                        <a:t>Fill with training median</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5326677"/>
                  </a:ext>
                </a:extLst>
              </a:tr>
              <a:tr h="386503">
                <a:tc>
                  <a:txBody>
                    <a:bodyPr/>
                    <a:lstStyle/>
                    <a:p>
                      <a:pPr algn="l" rtl="0" fontAlgn="base">
                        <a:lnSpc>
                          <a:spcPts val="975"/>
                        </a:lnSpc>
                        <a:buNone/>
                      </a:pPr>
                      <a:r>
                        <a:rPr lang="en-US" sz="1400" b="0" i="0">
                          <a:solidFill>
                            <a:srgbClr val="000000"/>
                          </a:solidFill>
                          <a:effectLst/>
                          <a:latin typeface="Gill Sans MT"/>
                        </a:rPr>
                        <a:t>Capacity hours (</a:t>
                      </a:r>
                      <a:r>
                        <a:rPr lang="en-US" sz="1400" b="0" i="0" err="1">
                          <a:solidFill>
                            <a:srgbClr val="000000"/>
                          </a:solidFill>
                          <a:effectLst/>
                          <a:latin typeface="Gill Sans MT"/>
                        </a:rPr>
                        <a:t>regular_hours</a:t>
                      </a:r>
                      <a:r>
                        <a:rPr lang="en-US" sz="1400" b="0" i="0">
                          <a:solidFill>
                            <a:srgbClr val="000000"/>
                          </a:solidFill>
                          <a:effectLst/>
                          <a:latin typeface="Gill Sans MT"/>
                        </a:rPr>
                        <a:t>, </a:t>
                      </a:r>
                      <a:r>
                        <a:rPr lang="en-US" sz="1400" b="0" i="0" err="1">
                          <a:solidFill>
                            <a:srgbClr val="000000"/>
                          </a:solidFill>
                          <a:effectLst/>
                          <a:latin typeface="Gill Sans MT"/>
                        </a:rPr>
                        <a:t>ot_hours</a:t>
                      </a:r>
                      <a:r>
                        <a:rPr lang="en-US" sz="1400" b="0" i="0">
                          <a:solidFill>
                            <a:srgbClr val="000000"/>
                          </a:solidFill>
                          <a:effectLst/>
                          <a:latin typeface="Gill Sans MT"/>
                        </a:rPr>
                        <a:t>)</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rtl="0" fontAlgn="base">
                        <a:lnSpc>
                          <a:spcPts val="975"/>
                        </a:lnSpc>
                        <a:buNone/>
                      </a:pPr>
                      <a:r>
                        <a:rPr lang="en-US" sz="1400" b="0" i="0">
                          <a:solidFill>
                            <a:srgbClr val="000000"/>
                          </a:solidFill>
                          <a:effectLst/>
                          <a:latin typeface="Gill Sans MT"/>
                        </a:rPr>
                        <a:t>Fill with 0</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8989518"/>
                  </a:ext>
                </a:extLst>
              </a:tr>
              <a:tr h="355582">
                <a:tc>
                  <a:txBody>
                    <a:bodyPr/>
                    <a:lstStyle/>
                    <a:p>
                      <a:pPr algn="l" rtl="0" fontAlgn="base">
                        <a:lnSpc>
                          <a:spcPts val="975"/>
                        </a:lnSpc>
                        <a:buNone/>
                      </a:pPr>
                      <a:r>
                        <a:rPr lang="en-US" sz="1400" b="0" i="0">
                          <a:solidFill>
                            <a:srgbClr val="000000"/>
                          </a:solidFill>
                          <a:effectLst/>
                          <a:latin typeface="Gill Sans MT"/>
                        </a:rPr>
                        <a:t>Label-encoded </a:t>
                      </a:r>
                      <a:r>
                        <a:rPr lang="en-US" sz="1400" b="0" i="0" err="1">
                          <a:solidFill>
                            <a:srgbClr val="000000"/>
                          </a:solidFill>
                          <a:effectLst/>
                          <a:latin typeface="Gill Sans MT"/>
                        </a:rPr>
                        <a:t>categoricals</a:t>
                      </a:r>
                      <a:endParaRPr lang="en-US" sz="1400" b="0" i="0">
                        <a:solidFill>
                          <a:srgbClr val="000000"/>
                        </a:solidFill>
                        <a:effectLst/>
                        <a:latin typeface="Gill Sans MT"/>
                      </a:endParaRP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975"/>
                        </a:lnSpc>
                        <a:buNone/>
                      </a:pPr>
                      <a:r>
                        <a:rPr lang="en-US" sz="1400" b="0" i="0">
                          <a:solidFill>
                            <a:srgbClr val="000000"/>
                          </a:solidFill>
                          <a:effectLst/>
                          <a:latin typeface="Gill Sans MT"/>
                        </a:rPr>
                        <a:t>Fit on train + inference combined</a:t>
                      </a:r>
                    </a:p>
                  </a:txBody>
                  <a:tcPr marL="62179" marR="62179" marT="31090" marB="3109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82421457"/>
                  </a:ext>
                </a:extLst>
              </a:tr>
            </a:tbl>
          </a:graphicData>
        </a:graphic>
      </p:graphicFrame>
      <p:graphicFrame>
        <p:nvGraphicFramePr>
          <p:cNvPr id="9" name="Table 8">
            <a:extLst>
              <a:ext uri="{FF2B5EF4-FFF2-40B4-BE49-F238E27FC236}">
                <a16:creationId xmlns:a16="http://schemas.microsoft.com/office/drawing/2014/main" id="{2E293779-D638-809B-EF73-CD79FBE4F318}"/>
              </a:ext>
            </a:extLst>
          </p:cNvPr>
          <p:cNvGraphicFramePr>
            <a:graphicFrameLocks noGrp="1"/>
          </p:cNvGraphicFramePr>
          <p:nvPr>
            <p:extLst>
              <p:ext uri="{D42A27DB-BD31-4B8C-83A1-F6EECF244321}">
                <p14:modId xmlns:p14="http://schemas.microsoft.com/office/powerpoint/2010/main" val="3974337219"/>
              </p:ext>
            </p:extLst>
          </p:nvPr>
        </p:nvGraphicFramePr>
        <p:xfrm>
          <a:off x="7131852" y="4682984"/>
          <a:ext cx="4320890" cy="2003225"/>
        </p:xfrm>
        <a:graphic>
          <a:graphicData uri="http://schemas.openxmlformats.org/drawingml/2006/table">
            <a:tbl>
              <a:tblPr bandRow="1">
                <a:tableStyleId>{5C22544A-7EE6-4342-B048-85BDC9FD1C3A}</a:tableStyleId>
              </a:tblPr>
              <a:tblGrid>
                <a:gridCol w="2434544">
                  <a:extLst>
                    <a:ext uri="{9D8B030D-6E8A-4147-A177-3AD203B41FA5}">
                      <a16:colId xmlns:a16="http://schemas.microsoft.com/office/drawing/2014/main" val="2320683689"/>
                    </a:ext>
                  </a:extLst>
                </a:gridCol>
                <a:gridCol w="1886346">
                  <a:extLst>
                    <a:ext uri="{9D8B030D-6E8A-4147-A177-3AD203B41FA5}">
                      <a16:colId xmlns:a16="http://schemas.microsoft.com/office/drawing/2014/main" val="3031649605"/>
                    </a:ext>
                  </a:extLst>
                </a:gridCol>
              </a:tblGrid>
              <a:tr h="517500">
                <a:tc>
                  <a:txBody>
                    <a:bodyPr/>
                    <a:lstStyle/>
                    <a:p>
                      <a:pPr>
                        <a:buNone/>
                      </a:pPr>
                      <a:r>
                        <a:rPr lang="en-US"/>
                        <a:t>Metric</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3">
                        <a:lumMod val="40000"/>
                        <a:lumOff val="60000"/>
                      </a:schemeClr>
                    </a:solidFill>
                  </a:tcPr>
                </a:tc>
                <a:tc>
                  <a:txBody>
                    <a:bodyPr/>
                    <a:lstStyle/>
                    <a:p>
                      <a:pPr>
                        <a:buNone/>
                      </a:pPr>
                      <a:r>
                        <a:rPr lang="en-US"/>
                        <a:t>Value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3">
                        <a:lumMod val="40000"/>
                        <a:lumOff val="60000"/>
                      </a:schemeClr>
                    </a:solidFill>
                  </a:tcPr>
                </a:tc>
                <a:extLst>
                  <a:ext uri="{0D108BD9-81ED-4DB2-BD59-A6C34878D82A}">
                    <a16:rowId xmlns:a16="http://schemas.microsoft.com/office/drawing/2014/main" val="2794740319"/>
                  </a:ext>
                </a:extLst>
              </a:tr>
              <a:tr h="517500">
                <a:tc>
                  <a:txBody>
                    <a:bodyPr/>
                    <a:lstStyle/>
                    <a:p>
                      <a:pPr>
                        <a:buNone/>
                      </a:pPr>
                      <a:r>
                        <a:rPr lang="en-US"/>
                        <a:t>Raw Training Rows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179,853</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159791531"/>
                  </a:ext>
                </a:extLst>
              </a:tr>
              <a:tr h="517500">
                <a:tc>
                  <a:txBody>
                    <a:bodyPr/>
                    <a:lstStyle/>
                    <a:p>
                      <a:pPr>
                        <a:buNone/>
                      </a:pPr>
                      <a:r>
                        <a:rPr lang="en-US"/>
                        <a:t>Rows Removed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743 (0.41%)</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10063980"/>
                  </a:ext>
                </a:extLst>
              </a:tr>
              <a:tr h="450725">
                <a:tc>
                  <a:txBody>
                    <a:bodyPr/>
                    <a:lstStyle/>
                    <a:p>
                      <a:pPr>
                        <a:buNone/>
                      </a:pPr>
                      <a:r>
                        <a:rPr lang="en-US"/>
                        <a:t>Rows After Cleaning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buNone/>
                      </a:pPr>
                      <a:r>
                        <a:rPr lang="en-US"/>
                        <a:t>179,110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884536953"/>
                  </a:ext>
                </a:extLst>
              </a:tr>
            </a:tbl>
          </a:graphicData>
        </a:graphic>
      </p:graphicFrame>
    </p:spTree>
    <p:extLst>
      <p:ext uri="{BB962C8B-B14F-4D97-AF65-F5344CB8AC3E}">
        <p14:creationId xmlns:p14="http://schemas.microsoft.com/office/powerpoint/2010/main" val="2061740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452C05-BD08-E922-7AB2-183A1AE144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49C31-035B-FCCC-FB12-8EC4BD7A7E5C}"/>
              </a:ext>
            </a:extLst>
          </p:cNvPr>
          <p:cNvSpPr>
            <a:spLocks noGrp="1"/>
          </p:cNvSpPr>
          <p:nvPr>
            <p:ph type="title"/>
          </p:nvPr>
        </p:nvSpPr>
        <p:spPr/>
        <p:txBody>
          <a:bodyPr>
            <a:normAutofit/>
          </a:bodyPr>
          <a:lstStyle/>
          <a:p>
            <a:r>
              <a:rPr lang="en-IN" b="1"/>
              <a:t>Exploratory data analysis  </a:t>
            </a:r>
            <a:endParaRPr lang="en-IN"/>
          </a:p>
        </p:txBody>
      </p:sp>
      <p:sp>
        <p:nvSpPr>
          <p:cNvPr id="8" name="TextBox 7">
            <a:extLst>
              <a:ext uri="{FF2B5EF4-FFF2-40B4-BE49-F238E27FC236}">
                <a16:creationId xmlns:a16="http://schemas.microsoft.com/office/drawing/2014/main" id="{42152B37-8033-5759-24CC-4602F9F0BA51}"/>
              </a:ext>
            </a:extLst>
          </p:cNvPr>
          <p:cNvSpPr txBox="1"/>
          <p:nvPr/>
        </p:nvSpPr>
        <p:spPr>
          <a:xfrm>
            <a:off x="402166" y="4974312"/>
            <a:ext cx="4960103"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600" b="1">
                <a:ea typeface="+mn-lt"/>
                <a:cs typeface="+mn-lt"/>
              </a:rPr>
              <a:t>68% of orders completed within 0–1 days</a:t>
            </a:r>
            <a:r>
              <a:rPr lang="en-US" sz="1600">
                <a:ea typeface="+mn-lt"/>
                <a:cs typeface="+mn-lt"/>
              </a:rPr>
              <a:t> - reflects high overall factory efficiency and quick turnaround </a:t>
            </a:r>
            <a:endParaRPr lang="en-US" sz="1600"/>
          </a:p>
          <a:p>
            <a:pPr>
              <a:buFont typeface="Arial"/>
              <a:buChar char="•"/>
            </a:pPr>
            <a:r>
              <a:rPr lang="en-US" sz="1600" b="1">
                <a:ea typeface="+mn-lt"/>
                <a:cs typeface="+mn-lt"/>
              </a:rPr>
              <a:t>1 day is the most common outcome (48.6%)</a:t>
            </a:r>
            <a:r>
              <a:rPr lang="en-US" sz="1600">
                <a:ea typeface="+mn-lt"/>
                <a:cs typeface="+mn-lt"/>
              </a:rPr>
              <a:t> - serves as a strong and reliable baseline for prediction </a:t>
            </a:r>
            <a:endParaRPr lang="en-US">
              <a:ea typeface="+mn-lt"/>
              <a:cs typeface="+mn-lt"/>
            </a:endParaRPr>
          </a:p>
          <a:p>
            <a:pPr>
              <a:buFont typeface="Arial"/>
              <a:buChar char="•"/>
            </a:pPr>
            <a:r>
              <a:rPr lang="en-US" sz="1600" b="1">
                <a:ea typeface="+mn-lt"/>
                <a:cs typeface="+mn-lt"/>
              </a:rPr>
              <a:t>Only 1.8% of orders exceed 6 days</a:t>
            </a:r>
            <a:r>
              <a:rPr lang="en-US" sz="1600">
                <a:ea typeface="+mn-lt"/>
                <a:cs typeface="+mn-lt"/>
              </a:rPr>
              <a:t> - rare outliers, capped to prevent model skew</a:t>
            </a:r>
            <a:endParaRPr lang="en-US">
              <a:ea typeface="+mn-lt"/>
              <a:cs typeface="+mn-lt"/>
            </a:endParaRPr>
          </a:p>
          <a:p>
            <a:pPr marL="285750" indent="-285750">
              <a:buFont typeface="Arial"/>
              <a:buChar char="•"/>
            </a:pPr>
            <a:endParaRPr lang="en-US" sz="1600"/>
          </a:p>
          <a:p>
            <a:pPr algn="l"/>
            <a:endParaRPr lang="en-US"/>
          </a:p>
        </p:txBody>
      </p:sp>
      <p:sp>
        <p:nvSpPr>
          <p:cNvPr id="10" name="TextBox 9">
            <a:extLst>
              <a:ext uri="{FF2B5EF4-FFF2-40B4-BE49-F238E27FC236}">
                <a16:creationId xmlns:a16="http://schemas.microsoft.com/office/drawing/2014/main" id="{768EC372-DDE5-6849-C73E-3C81C82792CF}"/>
              </a:ext>
            </a:extLst>
          </p:cNvPr>
          <p:cNvSpPr txBox="1"/>
          <p:nvPr/>
        </p:nvSpPr>
        <p:spPr>
          <a:xfrm>
            <a:off x="5947833" y="5069417"/>
            <a:ext cx="608541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b="1">
                <a:ea typeface="+mn-lt"/>
                <a:cs typeface="+mn-lt"/>
              </a:rPr>
              <a:t>Mar 2025 (~1.95d) - Slowest</a:t>
            </a:r>
            <a:r>
              <a:rPr lang="en-US" sz="1600">
                <a:ea typeface="+mn-lt"/>
                <a:cs typeface="+mn-lt"/>
              </a:rPr>
              <a:t>, driven by fiscal year start, ramp-up, and product introductions </a:t>
            </a:r>
            <a:endParaRPr lang="en-US" sz="1600"/>
          </a:p>
          <a:p>
            <a:pPr marL="285750" indent="-285750">
              <a:buFont typeface="Arial"/>
              <a:buChar char="•"/>
            </a:pPr>
            <a:r>
              <a:rPr lang="en-US" sz="1600" b="1">
                <a:ea typeface="+mn-lt"/>
                <a:cs typeface="+mn-lt"/>
              </a:rPr>
              <a:t>Jul 2025 (~0.97d) - Fastest</a:t>
            </a:r>
            <a:r>
              <a:rPr lang="en-US" sz="1600">
                <a:ea typeface="+mn-lt"/>
                <a:cs typeface="+mn-lt"/>
              </a:rPr>
              <a:t>, reflecting stable operations with minimal external pressures </a:t>
            </a:r>
            <a:endParaRPr lang="en-US" sz="1600"/>
          </a:p>
          <a:p>
            <a:pPr marL="285750" indent="-285750">
              <a:buFont typeface="Arial"/>
              <a:buChar char="•"/>
            </a:pPr>
            <a:r>
              <a:rPr lang="en-US" sz="1600" b="1">
                <a:ea typeface="+mn-lt"/>
                <a:cs typeface="+mn-lt"/>
              </a:rPr>
              <a:t>Nov–Dec 2025 (~1.7d) peak due to EOQ &amp; holidays, followed by Jan 2026 (~1.5d) recovery</a:t>
            </a:r>
            <a:r>
              <a:rPr lang="en-US" sz="1600">
                <a:ea typeface="+mn-lt"/>
                <a:cs typeface="+mn-lt"/>
              </a:rPr>
              <a:t>, which serves as the model validation phase</a:t>
            </a:r>
            <a:endParaRPr lang="en-US" sz="1600"/>
          </a:p>
          <a:p>
            <a:endParaRPr lang="en-US" sz="1600"/>
          </a:p>
          <a:p>
            <a:endParaRPr lang="en-US" sz="1600"/>
          </a:p>
        </p:txBody>
      </p:sp>
      <p:pic>
        <p:nvPicPr>
          <p:cNvPr id="3" name="Picture 2" descr="A graph of blue bars with red line&#10;&#10;AI-generated content may be incorrect.">
            <a:extLst>
              <a:ext uri="{FF2B5EF4-FFF2-40B4-BE49-F238E27FC236}">
                <a16:creationId xmlns:a16="http://schemas.microsoft.com/office/drawing/2014/main" id="{84E2A7E1-6310-0026-2283-93C884D78412}"/>
              </a:ext>
            </a:extLst>
          </p:cNvPr>
          <p:cNvPicPr>
            <a:picLocks noChangeAspect="1"/>
          </p:cNvPicPr>
          <p:nvPr/>
        </p:nvPicPr>
        <p:blipFill>
          <a:blip r:embed="rId3"/>
          <a:stretch>
            <a:fillRect/>
          </a:stretch>
        </p:blipFill>
        <p:spPr>
          <a:xfrm>
            <a:off x="5478653" y="1891442"/>
            <a:ext cx="6558781" cy="3080704"/>
          </a:xfrm>
          <a:prstGeom prst="rect">
            <a:avLst/>
          </a:prstGeom>
        </p:spPr>
      </p:pic>
      <p:pic>
        <p:nvPicPr>
          <p:cNvPr id="9" name="Picture 8" descr="A graph of a number of blue bars&#10;&#10;AI-generated content may be incorrect.">
            <a:extLst>
              <a:ext uri="{FF2B5EF4-FFF2-40B4-BE49-F238E27FC236}">
                <a16:creationId xmlns:a16="http://schemas.microsoft.com/office/drawing/2014/main" id="{14CADEF0-0A45-E863-5DB5-172A2FA4BB98}"/>
              </a:ext>
            </a:extLst>
          </p:cNvPr>
          <p:cNvPicPr>
            <a:picLocks noChangeAspect="1"/>
          </p:cNvPicPr>
          <p:nvPr/>
        </p:nvPicPr>
        <p:blipFill>
          <a:blip r:embed="rId4"/>
          <a:stretch>
            <a:fillRect/>
          </a:stretch>
        </p:blipFill>
        <p:spPr>
          <a:xfrm>
            <a:off x="-2934" y="1898081"/>
            <a:ext cx="5478415" cy="3077866"/>
          </a:xfrm>
          <a:prstGeom prst="rect">
            <a:avLst/>
          </a:prstGeom>
        </p:spPr>
      </p:pic>
    </p:spTree>
    <p:extLst>
      <p:ext uri="{BB962C8B-B14F-4D97-AF65-F5344CB8AC3E}">
        <p14:creationId xmlns:p14="http://schemas.microsoft.com/office/powerpoint/2010/main" val="613699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0F471A-D468-5C4C-9B38-A3E8E5247A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88097-C047-8AFA-C6F5-86A8E82280CA}"/>
              </a:ext>
            </a:extLst>
          </p:cNvPr>
          <p:cNvSpPr>
            <a:spLocks noGrp="1"/>
          </p:cNvSpPr>
          <p:nvPr>
            <p:ph type="title"/>
          </p:nvPr>
        </p:nvSpPr>
        <p:spPr>
          <a:xfrm>
            <a:off x="581191" y="762126"/>
            <a:ext cx="10993549" cy="835001"/>
          </a:xfrm>
        </p:spPr>
        <p:txBody>
          <a:bodyPr vert="horz" lIns="91440" tIns="45720" rIns="91440" bIns="45720" rtlCol="0" anchor="b">
            <a:normAutofit/>
          </a:bodyPr>
          <a:lstStyle/>
          <a:p>
            <a:r>
              <a:rPr lang="en-US"/>
              <a:t>Setting target variable  and FEATURE</a:t>
            </a:r>
            <a:r>
              <a:rPr lang="en-US">
                <a:solidFill>
                  <a:srgbClr val="FFFFFF"/>
                </a:solidFill>
              </a:rPr>
              <a:t> engineering</a:t>
            </a:r>
            <a:r>
              <a:rPr lang="en-US" sz="3600">
                <a:solidFill>
                  <a:srgbClr val="FFFFFF"/>
                </a:solidFill>
              </a:rPr>
              <a:t> </a:t>
            </a:r>
            <a:r>
              <a:rPr lang="en-US" sz="3600">
                <a:solidFill>
                  <a:schemeClr val="accent1"/>
                </a:solidFill>
              </a:rPr>
              <a:t> </a:t>
            </a:r>
          </a:p>
        </p:txBody>
      </p:sp>
      <p:sp>
        <p:nvSpPr>
          <p:cNvPr id="9" name="TextBox 8">
            <a:extLst>
              <a:ext uri="{FF2B5EF4-FFF2-40B4-BE49-F238E27FC236}">
                <a16:creationId xmlns:a16="http://schemas.microsoft.com/office/drawing/2014/main" id="{DD933B91-835C-6D08-E895-DD84628E2274}"/>
              </a:ext>
            </a:extLst>
          </p:cNvPr>
          <p:cNvSpPr txBox="1"/>
          <p:nvPr/>
        </p:nvSpPr>
        <p:spPr>
          <a:xfrm>
            <a:off x="5916082" y="5027083"/>
            <a:ext cx="4804833" cy="16404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graphicFrame>
        <p:nvGraphicFramePr>
          <p:cNvPr id="4" name="Table 3">
            <a:extLst>
              <a:ext uri="{FF2B5EF4-FFF2-40B4-BE49-F238E27FC236}">
                <a16:creationId xmlns:a16="http://schemas.microsoft.com/office/drawing/2014/main" id="{149D7AF4-8DC5-7CBA-1874-583D467D6665}"/>
              </a:ext>
            </a:extLst>
          </p:cNvPr>
          <p:cNvGraphicFramePr>
            <a:graphicFrameLocks noGrp="1"/>
          </p:cNvGraphicFramePr>
          <p:nvPr>
            <p:extLst>
              <p:ext uri="{D42A27DB-BD31-4B8C-83A1-F6EECF244321}">
                <p14:modId xmlns:p14="http://schemas.microsoft.com/office/powerpoint/2010/main" val="3176576413"/>
              </p:ext>
            </p:extLst>
          </p:nvPr>
        </p:nvGraphicFramePr>
        <p:xfrm>
          <a:off x="6229702" y="1924801"/>
          <a:ext cx="5731451" cy="4904301"/>
        </p:xfrm>
        <a:graphic>
          <a:graphicData uri="http://schemas.openxmlformats.org/drawingml/2006/table">
            <a:tbl>
              <a:tblPr bandRow="1">
                <a:tableStyleId>{C083E6E3-FA7D-4D7B-A595-EF9225AFEA82}</a:tableStyleId>
              </a:tblPr>
              <a:tblGrid>
                <a:gridCol w="1169446">
                  <a:extLst>
                    <a:ext uri="{9D8B030D-6E8A-4147-A177-3AD203B41FA5}">
                      <a16:colId xmlns:a16="http://schemas.microsoft.com/office/drawing/2014/main" val="3833363455"/>
                    </a:ext>
                  </a:extLst>
                </a:gridCol>
                <a:gridCol w="959208">
                  <a:extLst>
                    <a:ext uri="{9D8B030D-6E8A-4147-A177-3AD203B41FA5}">
                      <a16:colId xmlns:a16="http://schemas.microsoft.com/office/drawing/2014/main" val="3374400993"/>
                    </a:ext>
                  </a:extLst>
                </a:gridCol>
                <a:gridCol w="3602797">
                  <a:extLst>
                    <a:ext uri="{9D8B030D-6E8A-4147-A177-3AD203B41FA5}">
                      <a16:colId xmlns:a16="http://schemas.microsoft.com/office/drawing/2014/main" val="1941604643"/>
                    </a:ext>
                  </a:extLst>
                </a:gridCol>
              </a:tblGrid>
              <a:tr h="691055">
                <a:tc>
                  <a:txBody>
                    <a:bodyPr/>
                    <a:lstStyle/>
                    <a:p>
                      <a:pPr>
                        <a:buNone/>
                      </a:pPr>
                      <a:r>
                        <a:rPr lang="en-GB" sz="1400" b="1"/>
                        <a:t>Category</a:t>
                      </a:r>
                    </a:p>
                  </a:txBody>
                  <a:tcPr anchor="ctr"/>
                </a:tc>
                <a:tc>
                  <a:txBody>
                    <a:bodyPr/>
                    <a:lstStyle/>
                    <a:p>
                      <a:pPr>
                        <a:buNone/>
                      </a:pPr>
                      <a:r>
                        <a:rPr lang="en-GB" sz="1400" b="1" err="1"/>
                        <a:t>Numbe</a:t>
                      </a:r>
                      <a:r>
                        <a:rPr lang="en-GB" sz="1400" b="1"/>
                        <a:t>r of features</a:t>
                      </a:r>
                    </a:p>
                  </a:txBody>
                  <a:tcPr anchor="ctr"/>
                </a:tc>
                <a:tc>
                  <a:txBody>
                    <a:bodyPr/>
                    <a:lstStyle/>
                    <a:p>
                      <a:pPr>
                        <a:buNone/>
                      </a:pPr>
                      <a:r>
                        <a:rPr lang="en-GB" sz="1400" b="1"/>
                        <a:t>Features</a:t>
                      </a:r>
                    </a:p>
                  </a:txBody>
                  <a:tcPr anchor="ctr"/>
                </a:tc>
                <a:extLst>
                  <a:ext uri="{0D108BD9-81ED-4DB2-BD59-A6C34878D82A}">
                    <a16:rowId xmlns:a16="http://schemas.microsoft.com/office/drawing/2014/main" val="2406415145"/>
                  </a:ext>
                </a:extLst>
              </a:tr>
              <a:tr h="1063162">
                <a:tc>
                  <a:txBody>
                    <a:bodyPr/>
                    <a:lstStyle/>
                    <a:p>
                      <a:pPr>
                        <a:buNone/>
                      </a:pPr>
                      <a:r>
                        <a:rPr lang="en-GB" sz="1400"/>
                        <a:t>Product Complexity</a:t>
                      </a:r>
                    </a:p>
                  </a:txBody>
                  <a:tcPr anchor="ctr"/>
                </a:tc>
                <a:tc>
                  <a:txBody>
                    <a:bodyPr/>
                    <a:lstStyle/>
                    <a:p>
                      <a:pPr>
                        <a:buNone/>
                      </a:pPr>
                      <a:r>
                        <a:rPr lang="en-GB" sz="1400"/>
                        <a:t>4</a:t>
                      </a:r>
                    </a:p>
                  </a:txBody>
                  <a:tcPr anchor="ctr"/>
                </a:tc>
                <a:tc>
                  <a:txBody>
                    <a:bodyPr/>
                    <a:lstStyle/>
                    <a:p>
                      <a:pPr>
                        <a:buNone/>
                      </a:pPr>
                      <a:r>
                        <a:rPr lang="en-GB" sz="1400" err="1"/>
                        <a:t>expected_kit_minutes</a:t>
                      </a:r>
                      <a:r>
                        <a:rPr lang="en-GB" sz="1400"/>
                        <a:t>, </a:t>
                      </a:r>
                      <a:r>
                        <a:rPr lang="en-GB" sz="1400" err="1"/>
                        <a:t>expected_build_minutes</a:t>
                      </a:r>
                      <a:r>
                        <a:rPr lang="en-GB" sz="1400"/>
                        <a:t>, </a:t>
                      </a:r>
                      <a:r>
                        <a:rPr lang="en-GB" sz="1400" err="1"/>
                        <a:t>expected_burn_minutes</a:t>
                      </a:r>
                      <a:r>
                        <a:rPr lang="en-GB" sz="1400"/>
                        <a:t>, </a:t>
                      </a:r>
                      <a:r>
                        <a:rPr lang="en-GB" sz="1400" err="1"/>
                        <a:t>total_expected_minutes</a:t>
                      </a:r>
                    </a:p>
                  </a:txBody>
                  <a:tcPr anchor="ctr"/>
                </a:tc>
                <a:extLst>
                  <a:ext uri="{0D108BD9-81ED-4DB2-BD59-A6C34878D82A}">
                    <a16:rowId xmlns:a16="http://schemas.microsoft.com/office/drawing/2014/main" val="1127252406"/>
                  </a:ext>
                </a:extLst>
              </a:tr>
              <a:tr h="558160">
                <a:tc>
                  <a:txBody>
                    <a:bodyPr/>
                    <a:lstStyle/>
                    <a:p>
                      <a:pPr>
                        <a:buNone/>
                      </a:pPr>
                      <a:r>
                        <a:rPr lang="en-GB" sz="1400"/>
                        <a:t>Calendar</a:t>
                      </a:r>
                    </a:p>
                  </a:txBody>
                  <a:tcPr anchor="ctr"/>
                </a:tc>
                <a:tc>
                  <a:txBody>
                    <a:bodyPr/>
                    <a:lstStyle/>
                    <a:p>
                      <a:pPr>
                        <a:buNone/>
                      </a:pPr>
                      <a:r>
                        <a:rPr lang="en-GB" sz="1400"/>
                        <a:t>6</a:t>
                      </a:r>
                    </a:p>
                  </a:txBody>
                  <a:tcPr anchor="ctr"/>
                </a:tc>
                <a:tc>
                  <a:txBody>
                    <a:bodyPr/>
                    <a:lstStyle/>
                    <a:p>
                      <a:pPr>
                        <a:buNone/>
                      </a:pPr>
                      <a:r>
                        <a:rPr lang="en-GB" sz="1400" err="1"/>
                        <a:t>day_of_week</a:t>
                      </a:r>
                      <a:r>
                        <a:rPr lang="en-GB" sz="1400"/>
                        <a:t>, </a:t>
                      </a:r>
                      <a:r>
                        <a:rPr lang="en-GB" sz="1400" err="1"/>
                        <a:t>is_working_day</a:t>
                      </a:r>
                      <a:r>
                        <a:rPr lang="en-GB" sz="1400"/>
                        <a:t>, </a:t>
                      </a:r>
                      <a:r>
                        <a:rPr lang="en-GB" sz="1400" err="1"/>
                        <a:t>is_eoq</a:t>
                      </a:r>
                      <a:r>
                        <a:rPr lang="en-GB" sz="1400"/>
                        <a:t>, </a:t>
                      </a:r>
                      <a:r>
                        <a:rPr lang="en-GB" sz="1400" err="1"/>
                        <a:t>is_idc</a:t>
                      </a:r>
                      <a:r>
                        <a:rPr lang="en-GB" sz="1400"/>
                        <a:t>, </a:t>
                      </a:r>
                      <a:r>
                        <a:rPr lang="en-GB" sz="1400" err="1"/>
                        <a:t>is_weekend</a:t>
                      </a:r>
                      <a:r>
                        <a:rPr lang="en-GB" sz="1400"/>
                        <a:t>, </a:t>
                      </a:r>
                      <a:r>
                        <a:rPr lang="en-GB" sz="1400" err="1"/>
                        <a:t>is_holiday</a:t>
                      </a:r>
                    </a:p>
                  </a:txBody>
                  <a:tcPr anchor="ctr"/>
                </a:tc>
                <a:extLst>
                  <a:ext uri="{0D108BD9-81ED-4DB2-BD59-A6C34878D82A}">
                    <a16:rowId xmlns:a16="http://schemas.microsoft.com/office/drawing/2014/main" val="937461483"/>
                  </a:ext>
                </a:extLst>
              </a:tr>
              <a:tr h="332239">
                <a:tc>
                  <a:txBody>
                    <a:bodyPr/>
                    <a:lstStyle/>
                    <a:p>
                      <a:pPr>
                        <a:buNone/>
                      </a:pPr>
                      <a:r>
                        <a:rPr lang="en-GB" sz="1400"/>
                        <a:t>Capacity</a:t>
                      </a:r>
                    </a:p>
                  </a:txBody>
                  <a:tcPr anchor="ctr"/>
                </a:tc>
                <a:tc>
                  <a:txBody>
                    <a:bodyPr/>
                    <a:lstStyle/>
                    <a:p>
                      <a:pPr>
                        <a:buNone/>
                      </a:pPr>
                      <a:r>
                        <a:rPr lang="en-GB" sz="1400"/>
                        <a:t>2</a:t>
                      </a:r>
                    </a:p>
                  </a:txBody>
                  <a:tcPr anchor="ctr"/>
                </a:tc>
                <a:tc>
                  <a:txBody>
                    <a:bodyPr/>
                    <a:lstStyle/>
                    <a:p>
                      <a:pPr>
                        <a:buNone/>
                      </a:pPr>
                      <a:r>
                        <a:rPr lang="en-GB" sz="1400" err="1"/>
                        <a:t>total_capacity_hours</a:t>
                      </a:r>
                      <a:r>
                        <a:rPr lang="en-GB" sz="1400"/>
                        <a:t>, </a:t>
                      </a:r>
                      <a:r>
                        <a:rPr lang="en-GB" sz="1400" err="1"/>
                        <a:t>ot_flag</a:t>
                      </a:r>
                    </a:p>
                  </a:txBody>
                  <a:tcPr anchor="ctr"/>
                </a:tc>
                <a:extLst>
                  <a:ext uri="{0D108BD9-81ED-4DB2-BD59-A6C34878D82A}">
                    <a16:rowId xmlns:a16="http://schemas.microsoft.com/office/drawing/2014/main" val="3960180235"/>
                  </a:ext>
                </a:extLst>
              </a:tr>
              <a:tr h="332239">
                <a:tc>
                  <a:txBody>
                    <a:bodyPr/>
                    <a:lstStyle/>
                    <a:p>
                      <a:pPr>
                        <a:buNone/>
                      </a:pPr>
                      <a:r>
                        <a:rPr lang="en-GB" sz="1400"/>
                        <a:t>Order Details</a:t>
                      </a:r>
                    </a:p>
                  </a:txBody>
                  <a:tcPr anchor="ctr"/>
                </a:tc>
                <a:tc>
                  <a:txBody>
                    <a:bodyPr/>
                    <a:lstStyle/>
                    <a:p>
                      <a:pPr>
                        <a:buNone/>
                      </a:pPr>
                      <a:r>
                        <a:rPr lang="en-GB" sz="1400"/>
                        <a:t>3</a:t>
                      </a:r>
                    </a:p>
                  </a:txBody>
                  <a:tcPr anchor="ctr"/>
                </a:tc>
                <a:tc>
                  <a:txBody>
                    <a:bodyPr/>
                    <a:lstStyle/>
                    <a:p>
                      <a:pPr>
                        <a:buNone/>
                      </a:pPr>
                      <a:r>
                        <a:rPr lang="en-GB" sz="1400" err="1"/>
                        <a:t>quantity_produced</a:t>
                      </a:r>
                      <a:r>
                        <a:rPr lang="en-GB" sz="1400"/>
                        <a:t>, </a:t>
                      </a:r>
                      <a:r>
                        <a:rPr lang="en-GB" sz="1400" err="1"/>
                        <a:t>line_qty</a:t>
                      </a:r>
                      <a:r>
                        <a:rPr lang="en-GB" sz="1400"/>
                        <a:t>, </a:t>
                      </a:r>
                      <a:r>
                        <a:rPr lang="en-GB" sz="1400" err="1"/>
                        <a:t>order_amt</a:t>
                      </a:r>
                    </a:p>
                  </a:txBody>
                  <a:tcPr anchor="ctr"/>
                </a:tc>
                <a:extLst>
                  <a:ext uri="{0D108BD9-81ED-4DB2-BD59-A6C34878D82A}">
                    <a16:rowId xmlns:a16="http://schemas.microsoft.com/office/drawing/2014/main" val="2066288607"/>
                  </a:ext>
                </a:extLst>
              </a:tr>
              <a:tr h="558160">
                <a:tc>
                  <a:txBody>
                    <a:bodyPr/>
                    <a:lstStyle/>
                    <a:p>
                      <a:pPr>
                        <a:buNone/>
                      </a:pPr>
                      <a:r>
                        <a:rPr lang="en-GB" sz="1400"/>
                        <a:t>Engineered</a:t>
                      </a:r>
                    </a:p>
                  </a:txBody>
                  <a:tcPr anchor="ctr"/>
                </a:tc>
                <a:tc>
                  <a:txBody>
                    <a:bodyPr/>
                    <a:lstStyle/>
                    <a:p>
                      <a:pPr>
                        <a:buNone/>
                      </a:pPr>
                      <a:r>
                        <a:rPr lang="en-GB" sz="1400"/>
                        <a:t>3</a:t>
                      </a:r>
                    </a:p>
                  </a:txBody>
                  <a:tcPr anchor="ctr"/>
                </a:tc>
                <a:tc>
                  <a:txBody>
                    <a:bodyPr/>
                    <a:lstStyle/>
                    <a:p>
                      <a:pPr>
                        <a:buNone/>
                      </a:pPr>
                      <a:r>
                        <a:rPr lang="en-GB" sz="1400"/>
                        <a:t>workload, </a:t>
                      </a:r>
                      <a:r>
                        <a:rPr lang="en-GB" sz="1400" err="1"/>
                        <a:t>capacity_utilization</a:t>
                      </a:r>
                      <a:r>
                        <a:rPr lang="en-GB" sz="1400"/>
                        <a:t>, </a:t>
                      </a:r>
                      <a:r>
                        <a:rPr lang="en-GB" sz="1400" err="1"/>
                        <a:t>download_to_kitstart_days</a:t>
                      </a:r>
                    </a:p>
                  </a:txBody>
                  <a:tcPr anchor="ctr"/>
                </a:tc>
                <a:extLst>
                  <a:ext uri="{0D108BD9-81ED-4DB2-BD59-A6C34878D82A}">
                    <a16:rowId xmlns:a16="http://schemas.microsoft.com/office/drawing/2014/main" val="2429980616"/>
                  </a:ext>
                </a:extLst>
              </a:tr>
              <a:tr h="332239">
                <a:tc>
                  <a:txBody>
                    <a:bodyPr/>
                    <a:lstStyle/>
                    <a:p>
                      <a:pPr>
                        <a:buNone/>
                      </a:pPr>
                      <a:r>
                        <a:rPr lang="en-GB" sz="1400"/>
                        <a:t>Order Flags</a:t>
                      </a:r>
                    </a:p>
                  </a:txBody>
                  <a:tcPr anchor="ctr"/>
                </a:tc>
                <a:tc>
                  <a:txBody>
                    <a:bodyPr/>
                    <a:lstStyle/>
                    <a:p>
                      <a:pPr>
                        <a:buNone/>
                      </a:pPr>
                      <a:r>
                        <a:rPr lang="en-GB" sz="1400"/>
                        <a:t>2</a:t>
                      </a:r>
                    </a:p>
                  </a:txBody>
                  <a:tcPr anchor="ctr"/>
                </a:tc>
                <a:tc>
                  <a:txBody>
                    <a:bodyPr/>
                    <a:lstStyle/>
                    <a:p>
                      <a:pPr>
                        <a:buNone/>
                      </a:pPr>
                      <a:r>
                        <a:rPr lang="en-GB" sz="1400" err="1"/>
                        <a:t>is_cfi</a:t>
                      </a:r>
                      <a:r>
                        <a:rPr lang="en-GB" sz="1400"/>
                        <a:t>, </a:t>
                      </a:r>
                      <a:r>
                        <a:rPr lang="en-GB" sz="1400" err="1"/>
                        <a:t>cfs_flag</a:t>
                      </a:r>
                    </a:p>
                  </a:txBody>
                  <a:tcPr anchor="ctr"/>
                </a:tc>
                <a:extLst>
                  <a:ext uri="{0D108BD9-81ED-4DB2-BD59-A6C34878D82A}">
                    <a16:rowId xmlns:a16="http://schemas.microsoft.com/office/drawing/2014/main" val="68050079"/>
                  </a:ext>
                </a:extLst>
              </a:tr>
              <a:tr h="810661">
                <a:tc>
                  <a:txBody>
                    <a:bodyPr/>
                    <a:lstStyle/>
                    <a:p>
                      <a:pPr>
                        <a:buNone/>
                      </a:pPr>
                      <a:r>
                        <a:rPr lang="en-GB" sz="1400"/>
                        <a:t>Hierarchy (Encoded)</a:t>
                      </a:r>
                    </a:p>
                  </a:txBody>
                  <a:tcPr anchor="ctr"/>
                </a:tc>
                <a:tc>
                  <a:txBody>
                    <a:bodyPr/>
                    <a:lstStyle/>
                    <a:p>
                      <a:pPr>
                        <a:buNone/>
                      </a:pPr>
                      <a:r>
                        <a:rPr lang="en-GB" sz="1400"/>
                        <a:t>4</a:t>
                      </a:r>
                    </a:p>
                  </a:txBody>
                  <a:tcPr anchor="ctr"/>
                </a:tc>
                <a:tc>
                  <a:txBody>
                    <a:bodyPr/>
                    <a:lstStyle/>
                    <a:p>
                      <a:pPr>
                        <a:buNone/>
                      </a:pPr>
                      <a:r>
                        <a:rPr lang="en-GB" sz="1400" err="1"/>
                        <a:t>family_desc_enc</a:t>
                      </a:r>
                      <a:r>
                        <a:rPr lang="en-GB" sz="1400"/>
                        <a:t>, </a:t>
                      </a:r>
                      <a:r>
                        <a:rPr lang="en-GB" sz="1400" err="1"/>
                        <a:t>family_parent_desc_enc</a:t>
                      </a:r>
                      <a:r>
                        <a:rPr lang="en-GB" sz="1400"/>
                        <a:t>, </a:t>
                      </a:r>
                      <a:r>
                        <a:rPr lang="en-GB" sz="1400" err="1"/>
                        <a:t>lob_desc_enc</a:t>
                      </a:r>
                      <a:r>
                        <a:rPr lang="en-GB" sz="1400"/>
                        <a:t>, </a:t>
                      </a:r>
                      <a:r>
                        <a:rPr lang="en-GB" sz="1400" err="1"/>
                        <a:t>buid_enc</a:t>
                      </a:r>
                    </a:p>
                  </a:txBody>
                  <a:tcPr anchor="ctr"/>
                </a:tc>
                <a:extLst>
                  <a:ext uri="{0D108BD9-81ED-4DB2-BD59-A6C34878D82A}">
                    <a16:rowId xmlns:a16="http://schemas.microsoft.com/office/drawing/2014/main" val="754450295"/>
                  </a:ext>
                </a:extLst>
              </a:tr>
            </a:tbl>
          </a:graphicData>
        </a:graphic>
      </p:graphicFrame>
      <p:graphicFrame>
        <p:nvGraphicFramePr>
          <p:cNvPr id="7" name="Table 6">
            <a:extLst>
              <a:ext uri="{FF2B5EF4-FFF2-40B4-BE49-F238E27FC236}">
                <a16:creationId xmlns:a16="http://schemas.microsoft.com/office/drawing/2014/main" id="{03ED67EC-8891-EED0-1E0E-23DF96C58202}"/>
              </a:ext>
            </a:extLst>
          </p:cNvPr>
          <p:cNvGraphicFramePr>
            <a:graphicFrameLocks noGrp="1"/>
          </p:cNvGraphicFramePr>
          <p:nvPr>
            <p:extLst>
              <p:ext uri="{D42A27DB-BD31-4B8C-83A1-F6EECF244321}">
                <p14:modId xmlns:p14="http://schemas.microsoft.com/office/powerpoint/2010/main" val="1966111834"/>
              </p:ext>
            </p:extLst>
          </p:nvPr>
        </p:nvGraphicFramePr>
        <p:xfrm>
          <a:off x="472489" y="3423474"/>
          <a:ext cx="5565774" cy="3190045"/>
        </p:xfrm>
        <a:graphic>
          <a:graphicData uri="http://schemas.openxmlformats.org/drawingml/2006/table">
            <a:tbl>
              <a:tblPr bandRow="1">
                <a:tableStyleId>{5C22544A-7EE6-4342-B048-85BDC9FD1C3A}</a:tableStyleId>
              </a:tblPr>
              <a:tblGrid>
                <a:gridCol w="2640543">
                  <a:extLst>
                    <a:ext uri="{9D8B030D-6E8A-4147-A177-3AD203B41FA5}">
                      <a16:colId xmlns:a16="http://schemas.microsoft.com/office/drawing/2014/main" val="2080889932"/>
                    </a:ext>
                  </a:extLst>
                </a:gridCol>
                <a:gridCol w="2925231">
                  <a:extLst>
                    <a:ext uri="{9D8B030D-6E8A-4147-A177-3AD203B41FA5}">
                      <a16:colId xmlns:a16="http://schemas.microsoft.com/office/drawing/2014/main" val="168647341"/>
                    </a:ext>
                  </a:extLst>
                </a:gridCol>
              </a:tblGrid>
              <a:tr h="411743">
                <a:tc>
                  <a:txBody>
                    <a:bodyPr/>
                    <a:lstStyle/>
                    <a:p>
                      <a:pPr algn="l" rtl="0" fontAlgn="base">
                        <a:lnSpc>
                          <a:spcPts val="1200"/>
                        </a:lnSpc>
                        <a:buNone/>
                      </a:pPr>
                      <a:r>
                        <a:rPr lang="en-GB" sz="1500" b="1" i="0">
                          <a:solidFill>
                            <a:srgbClr val="000000"/>
                          </a:solidFill>
                          <a:effectLst/>
                          <a:latin typeface="Gill Sans MT" panose="020B0502020104020203" pitchFamily="34" charset="0"/>
                        </a:rPr>
                        <a:t>Feature</a:t>
                      </a:r>
                      <a:endParaRPr lang="en-GB" b="0" i="0">
                        <a:solidFill>
                          <a:srgbClr val="000000"/>
                        </a:solidFill>
                        <a:effectLs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accent3">
                        <a:lumMod val="20000"/>
                        <a:lumOff val="80000"/>
                      </a:schemeClr>
                    </a:solidFill>
                  </a:tcPr>
                </a:tc>
                <a:tc>
                  <a:txBody>
                    <a:bodyPr/>
                    <a:lstStyle/>
                    <a:p>
                      <a:pPr algn="l" rtl="0" fontAlgn="base">
                        <a:lnSpc>
                          <a:spcPts val="1200"/>
                        </a:lnSpc>
                        <a:buNone/>
                      </a:pPr>
                      <a:r>
                        <a:rPr lang="en-GB" sz="1500" b="1" i="0">
                          <a:solidFill>
                            <a:srgbClr val="000000"/>
                          </a:solidFill>
                          <a:effectLst/>
                          <a:latin typeface="Gill Sans MT" panose="020B0502020104020203" pitchFamily="34" charset="0"/>
                        </a:rPr>
                        <a:t>Description</a:t>
                      </a:r>
                      <a:endParaRPr lang="en-GB" b="0" i="0">
                        <a:solidFill>
                          <a:srgbClr val="000000"/>
                        </a:solidFill>
                        <a:effectLs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79668467"/>
                  </a:ext>
                </a:extLst>
              </a:tr>
              <a:tr h="411743">
                <a:tc>
                  <a:txBody>
                    <a:bodyPr/>
                    <a:lstStyle/>
                    <a:p>
                      <a:pPr algn="l" rtl="0" fontAlgn="base">
                        <a:lnSpc>
                          <a:spcPts val="1200"/>
                        </a:lnSpc>
                        <a:buNone/>
                      </a:pPr>
                      <a:r>
                        <a:rPr lang="en-GB" sz="1500" b="0" i="0" err="1">
                          <a:solidFill>
                            <a:srgbClr val="000000"/>
                          </a:solidFill>
                          <a:effectLst/>
                          <a:latin typeface="Gill Sans MT"/>
                        </a:rPr>
                        <a:t>total_expected_minutes</a:t>
                      </a:r>
                      <a:endParaRPr lang="en-GB" b="0" i="0" err="1">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bg1"/>
                    </a:solidFill>
                  </a:tcPr>
                </a:tc>
                <a:tc>
                  <a:txBody>
                    <a:bodyPr/>
                    <a:lstStyle/>
                    <a:p>
                      <a:pPr algn="l" rtl="0" fontAlgn="base">
                        <a:lnSpc>
                          <a:spcPts val="1200"/>
                        </a:lnSpc>
                        <a:buNone/>
                      </a:pPr>
                      <a:r>
                        <a:rPr lang="en-GB" sz="1500" b="0" i="0">
                          <a:solidFill>
                            <a:srgbClr val="000000"/>
                          </a:solidFill>
                          <a:effectLst/>
                          <a:latin typeface="Gill Sans MT" panose="020B0502020104020203" pitchFamily="34" charset="0"/>
                        </a:rPr>
                        <a:t>Kit + build + burn minutes for the product family</a:t>
                      </a:r>
                      <a:endParaRPr lang="en-GB" b="0" i="0">
                        <a:solidFill>
                          <a:srgbClr val="000000"/>
                        </a:solidFill>
                        <a:effectLs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bg1"/>
                    </a:solidFill>
                  </a:tcPr>
                </a:tc>
                <a:extLst>
                  <a:ext uri="{0D108BD9-81ED-4DB2-BD59-A6C34878D82A}">
                    <a16:rowId xmlns:a16="http://schemas.microsoft.com/office/drawing/2014/main" val="4158101467"/>
                  </a:ext>
                </a:extLst>
              </a:tr>
              <a:tr h="411743">
                <a:tc>
                  <a:txBody>
                    <a:bodyPr/>
                    <a:lstStyle/>
                    <a:p>
                      <a:pPr algn="l" rtl="0" fontAlgn="base">
                        <a:lnSpc>
                          <a:spcPts val="1200"/>
                        </a:lnSpc>
                        <a:buNone/>
                      </a:pPr>
                      <a:r>
                        <a:rPr lang="en-GB" sz="1500" b="0" i="0">
                          <a:solidFill>
                            <a:srgbClr val="000000"/>
                          </a:solidFill>
                          <a:effectLst/>
                          <a:latin typeface="Gill Sans MT" panose="020B0502020104020203" pitchFamily="34" charset="0"/>
                        </a:rPr>
                        <a:t>workload</a:t>
                      </a:r>
                      <a:endParaRPr lang="en-GB" b="0" i="0">
                        <a:solidFill>
                          <a:srgbClr val="000000"/>
                        </a:solidFill>
                        <a:effectLs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accent3">
                        <a:lumMod val="20000"/>
                        <a:lumOff val="80000"/>
                      </a:schemeClr>
                    </a:solidFill>
                  </a:tcPr>
                </a:tc>
                <a:tc>
                  <a:txBody>
                    <a:bodyPr/>
                    <a:lstStyle/>
                    <a:p>
                      <a:pPr algn="l" rtl="0" fontAlgn="base">
                        <a:lnSpc>
                          <a:spcPts val="1200"/>
                        </a:lnSpc>
                        <a:buNone/>
                      </a:pPr>
                      <a:r>
                        <a:rPr lang="en-GB" sz="1500" b="0" i="0" err="1">
                          <a:solidFill>
                            <a:srgbClr val="000000"/>
                          </a:solidFill>
                          <a:effectLst/>
                          <a:latin typeface="Gill Sans MT"/>
                        </a:rPr>
                        <a:t>Quantity_produced</a:t>
                      </a:r>
                      <a:r>
                        <a:rPr lang="en-GB" sz="1500" b="0" i="0">
                          <a:solidFill>
                            <a:srgbClr val="000000"/>
                          </a:solidFill>
                          <a:effectLst/>
                          <a:latin typeface="Gill Sans MT"/>
                        </a:rPr>
                        <a:t> × </a:t>
                      </a:r>
                      <a:r>
                        <a:rPr lang="en-GB" sz="1500" b="0" i="0" err="1">
                          <a:solidFill>
                            <a:srgbClr val="000000"/>
                          </a:solidFill>
                          <a:effectLst/>
                          <a:latin typeface="Gill Sans MT"/>
                        </a:rPr>
                        <a:t>total_expected_minutes</a:t>
                      </a:r>
                      <a:endParaRPr lang="en-GB" b="0" i="0" err="1">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053951569"/>
                  </a:ext>
                </a:extLst>
              </a:tr>
              <a:tr h="530931">
                <a:tc>
                  <a:txBody>
                    <a:bodyPr/>
                    <a:lstStyle/>
                    <a:p>
                      <a:pPr algn="l" rtl="0" fontAlgn="base">
                        <a:lnSpc>
                          <a:spcPts val="1200"/>
                        </a:lnSpc>
                        <a:buNone/>
                      </a:pPr>
                      <a:r>
                        <a:rPr lang="en-GB" sz="1500" b="0" i="0" err="1">
                          <a:solidFill>
                            <a:srgbClr val="000000"/>
                          </a:solidFill>
                          <a:effectLst/>
                          <a:latin typeface="Gill Sans MT"/>
                        </a:rPr>
                        <a:t>capacity_utilization</a:t>
                      </a:r>
                      <a:endParaRPr lang="en-GB" b="0" i="0" err="1">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bg1"/>
                    </a:solidFill>
                  </a:tcPr>
                </a:tc>
                <a:tc>
                  <a:txBody>
                    <a:bodyPr/>
                    <a:lstStyle/>
                    <a:p>
                      <a:pPr algn="l" rtl="0" fontAlgn="base">
                        <a:lnSpc>
                          <a:spcPts val="1200"/>
                        </a:lnSpc>
                        <a:buNone/>
                      </a:pPr>
                      <a:r>
                        <a:rPr lang="en-GB" sz="1500" b="0" i="0">
                          <a:solidFill>
                            <a:srgbClr val="000000"/>
                          </a:solidFill>
                          <a:effectLst/>
                          <a:latin typeface="Gill Sans MT"/>
                        </a:rPr>
                        <a:t>Workload ÷ </a:t>
                      </a:r>
                      <a:r>
                        <a:rPr lang="en-GB" sz="1500" b="0" i="0" err="1">
                          <a:solidFill>
                            <a:srgbClr val="000000"/>
                          </a:solidFill>
                          <a:effectLst/>
                          <a:latin typeface="Gill Sans MT"/>
                        </a:rPr>
                        <a:t>total_capacity_hours</a:t>
                      </a:r>
                      <a:r>
                        <a:rPr lang="en-GB" sz="1500" b="0" i="0">
                          <a:solidFill>
                            <a:srgbClr val="000000"/>
                          </a:solidFill>
                          <a:effectLst/>
                          <a:latin typeface="Gill Sans MT"/>
                        </a:rPr>
                        <a:t> (0 if no capacity)</a:t>
                      </a:r>
                      <a:endParaRPr lang="en-GB" b="0" i="0">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bg1"/>
                    </a:solidFill>
                  </a:tcPr>
                </a:tc>
                <a:extLst>
                  <a:ext uri="{0D108BD9-81ED-4DB2-BD59-A6C34878D82A}">
                    <a16:rowId xmlns:a16="http://schemas.microsoft.com/office/drawing/2014/main" val="3205496094"/>
                  </a:ext>
                </a:extLst>
              </a:tr>
              <a:tr h="411743">
                <a:tc>
                  <a:txBody>
                    <a:bodyPr/>
                    <a:lstStyle/>
                    <a:p>
                      <a:pPr algn="l" rtl="0" fontAlgn="base">
                        <a:lnSpc>
                          <a:spcPts val="1200"/>
                        </a:lnSpc>
                        <a:buNone/>
                      </a:pPr>
                      <a:r>
                        <a:rPr lang="en-GB" sz="1500" b="0" i="0" err="1">
                          <a:solidFill>
                            <a:srgbClr val="000000"/>
                          </a:solidFill>
                          <a:effectLst/>
                          <a:latin typeface="Gill Sans MT"/>
                        </a:rPr>
                        <a:t>is_working_day</a:t>
                      </a:r>
                      <a:endParaRPr lang="en-GB" b="0" i="0" err="1">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accent3">
                        <a:lumMod val="20000"/>
                        <a:lumOff val="80000"/>
                      </a:schemeClr>
                    </a:solidFill>
                  </a:tcPr>
                </a:tc>
                <a:tc>
                  <a:txBody>
                    <a:bodyPr/>
                    <a:lstStyle/>
                    <a:p>
                      <a:pPr algn="l" rtl="0" fontAlgn="base">
                        <a:lnSpc>
                          <a:spcPts val="1200"/>
                        </a:lnSpc>
                        <a:buNone/>
                      </a:pPr>
                      <a:r>
                        <a:rPr lang="en-GB" sz="1500" b="0" i="0">
                          <a:solidFill>
                            <a:srgbClr val="000000"/>
                          </a:solidFill>
                          <a:effectLst/>
                          <a:latin typeface="Gill Sans MT" panose="020B0502020104020203" pitchFamily="34" charset="0"/>
                        </a:rPr>
                        <a:t>1 if not weekend AND not holiday</a:t>
                      </a:r>
                      <a:endParaRPr lang="en-GB" b="0" i="0">
                        <a:solidFill>
                          <a:srgbClr val="000000"/>
                        </a:solidFill>
                        <a:effectLs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4164301587"/>
                  </a:ext>
                </a:extLst>
              </a:tr>
              <a:tr h="411743">
                <a:tc>
                  <a:txBody>
                    <a:bodyPr/>
                    <a:lstStyle/>
                    <a:p>
                      <a:pPr algn="l" rtl="0" fontAlgn="base">
                        <a:lnSpc>
                          <a:spcPts val="1200"/>
                        </a:lnSpc>
                        <a:buNone/>
                      </a:pPr>
                      <a:r>
                        <a:rPr lang="en-GB" sz="1500" b="0" i="0" err="1">
                          <a:solidFill>
                            <a:srgbClr val="000000"/>
                          </a:solidFill>
                          <a:effectLst/>
                          <a:latin typeface="Gill Sans MT"/>
                        </a:rPr>
                        <a:t>total_capacity_hours</a:t>
                      </a:r>
                      <a:endParaRPr lang="en-GB" b="0" i="0" err="1">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bg1"/>
                    </a:solidFill>
                  </a:tcPr>
                </a:tc>
                <a:tc>
                  <a:txBody>
                    <a:bodyPr/>
                    <a:lstStyle/>
                    <a:p>
                      <a:pPr algn="l" rtl="0" fontAlgn="base">
                        <a:lnSpc>
                          <a:spcPts val="1200"/>
                        </a:lnSpc>
                        <a:buNone/>
                      </a:pPr>
                      <a:r>
                        <a:rPr lang="en-GB" sz="1500" b="0" i="0" err="1">
                          <a:solidFill>
                            <a:srgbClr val="000000"/>
                          </a:solidFill>
                          <a:effectLst/>
                          <a:latin typeface="Gill Sans MT"/>
                        </a:rPr>
                        <a:t>Regular_hours</a:t>
                      </a:r>
                      <a:r>
                        <a:rPr lang="en-GB" sz="1500" b="0" i="0">
                          <a:solidFill>
                            <a:srgbClr val="000000"/>
                          </a:solidFill>
                          <a:effectLst/>
                          <a:latin typeface="Gill Sans MT"/>
                        </a:rPr>
                        <a:t> + </a:t>
                      </a:r>
                      <a:r>
                        <a:rPr lang="en-GB" sz="1500" b="0" i="0" err="1">
                          <a:solidFill>
                            <a:srgbClr val="000000"/>
                          </a:solidFill>
                          <a:effectLst/>
                          <a:latin typeface="Gill Sans MT"/>
                        </a:rPr>
                        <a:t>OT_hours</a:t>
                      </a:r>
                      <a:r>
                        <a:rPr lang="en-GB" sz="1500" b="0" i="0">
                          <a:solidFill>
                            <a:srgbClr val="000000"/>
                          </a:solidFill>
                          <a:effectLst/>
                          <a:latin typeface="Gill Sans MT"/>
                        </a:rPr>
                        <a:t> for </a:t>
                      </a:r>
                      <a:r>
                        <a:rPr lang="en-GB" sz="1500" b="0" i="0" err="1">
                          <a:solidFill>
                            <a:srgbClr val="000000"/>
                          </a:solidFill>
                          <a:effectLst/>
                          <a:latin typeface="Gill Sans MT"/>
                        </a:rPr>
                        <a:t>kit_start</a:t>
                      </a:r>
                      <a:r>
                        <a:rPr lang="en-GB" sz="1500" b="0" i="0">
                          <a:solidFill>
                            <a:srgbClr val="000000"/>
                          </a:solidFill>
                          <a:effectLst/>
                          <a:latin typeface="Gill Sans MT"/>
                        </a:rPr>
                        <a:t> date</a:t>
                      </a:r>
                      <a:endParaRPr lang="en-GB" b="0" i="0">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bg1"/>
                    </a:solidFill>
                  </a:tcPr>
                </a:tc>
                <a:extLst>
                  <a:ext uri="{0D108BD9-81ED-4DB2-BD59-A6C34878D82A}">
                    <a16:rowId xmlns:a16="http://schemas.microsoft.com/office/drawing/2014/main" val="3978571155"/>
                  </a:ext>
                </a:extLst>
              </a:tr>
              <a:tr h="530931">
                <a:tc>
                  <a:txBody>
                    <a:bodyPr/>
                    <a:lstStyle/>
                    <a:p>
                      <a:pPr algn="l" rtl="0" fontAlgn="base">
                        <a:lnSpc>
                          <a:spcPts val="1200"/>
                        </a:lnSpc>
                        <a:buNone/>
                      </a:pPr>
                      <a:r>
                        <a:rPr lang="en-GB" sz="1500" b="0" i="0" err="1">
                          <a:solidFill>
                            <a:srgbClr val="000000"/>
                          </a:solidFill>
                          <a:effectLst/>
                          <a:latin typeface="Gill Sans MT"/>
                        </a:rPr>
                        <a:t>download_to_kitstart_days</a:t>
                      </a:r>
                      <a:endParaRPr lang="en-GB" b="0" i="0" err="1">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accent3">
                        <a:lumMod val="20000"/>
                        <a:lumOff val="80000"/>
                      </a:schemeClr>
                    </a:solidFill>
                  </a:tcPr>
                </a:tc>
                <a:tc>
                  <a:txBody>
                    <a:bodyPr/>
                    <a:lstStyle/>
                    <a:p>
                      <a:pPr algn="l" rtl="0" fontAlgn="base">
                        <a:lnSpc>
                          <a:spcPts val="1200"/>
                        </a:lnSpc>
                        <a:buNone/>
                      </a:pPr>
                      <a:r>
                        <a:rPr lang="en-GB" sz="1500" b="0" i="0">
                          <a:solidFill>
                            <a:srgbClr val="000000"/>
                          </a:solidFill>
                          <a:effectLst/>
                          <a:latin typeface="Gill Sans MT"/>
                        </a:rPr>
                        <a:t>(</a:t>
                      </a:r>
                      <a:r>
                        <a:rPr lang="en-GB" sz="1500" b="0" i="0" err="1">
                          <a:solidFill>
                            <a:srgbClr val="000000"/>
                          </a:solidFill>
                          <a:effectLst/>
                          <a:latin typeface="Gill Sans MT"/>
                        </a:rPr>
                        <a:t>kit_start</a:t>
                      </a:r>
                      <a:r>
                        <a:rPr lang="en-GB" sz="1500" b="0" i="0">
                          <a:solidFill>
                            <a:srgbClr val="000000"/>
                          </a:solidFill>
                          <a:effectLst/>
                          <a:latin typeface="Gill Sans MT"/>
                        </a:rPr>
                        <a:t> − </a:t>
                      </a:r>
                      <a:r>
                        <a:rPr lang="en-GB" sz="1500" b="0" i="0" err="1">
                          <a:solidFill>
                            <a:srgbClr val="000000"/>
                          </a:solidFill>
                          <a:effectLst/>
                          <a:latin typeface="Gill Sans MT"/>
                        </a:rPr>
                        <a:t>download_date</a:t>
                      </a:r>
                      <a:r>
                        <a:rPr lang="en-GB" sz="1500" b="0" i="0">
                          <a:solidFill>
                            <a:srgbClr val="000000"/>
                          </a:solidFill>
                          <a:effectLst/>
                          <a:latin typeface="Gill Sans MT"/>
                        </a:rPr>
                        <a:t>).</a:t>
                      </a:r>
                      <a:r>
                        <a:rPr lang="en-GB" sz="1500" b="0" i="0" err="1">
                          <a:solidFill>
                            <a:srgbClr val="000000"/>
                          </a:solidFill>
                          <a:effectLst/>
                          <a:latin typeface="Gill Sans MT"/>
                        </a:rPr>
                        <a:t>dt.days</a:t>
                      </a:r>
                      <a:r>
                        <a:rPr lang="en-GB" sz="1500" b="0" i="0">
                          <a:solidFill>
                            <a:srgbClr val="000000"/>
                          </a:solidFill>
                          <a:effectLst/>
                          <a:latin typeface="Gill Sans MT"/>
                        </a:rPr>
                        <a:t>, clipped ≥ 0</a:t>
                      </a:r>
                      <a:endParaRPr lang="en-GB" b="0" i="0">
                        <a:solidFill>
                          <a:srgbClr val="000000"/>
                        </a:solidFill>
                        <a:effectLst/>
                        <a:latin typeface="Gill Sans MT"/>
                      </a:endParaRPr>
                    </a:p>
                  </a:txBody>
                  <a:tcPr marL="81867" marR="81867" marT="81867" marB="4092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69477003"/>
                  </a:ext>
                </a:extLst>
              </a:tr>
            </a:tbl>
          </a:graphicData>
        </a:graphic>
      </p:graphicFrame>
      <p:grpSp>
        <p:nvGrpSpPr>
          <p:cNvPr id="3" name="Group 2">
            <a:extLst>
              <a:ext uri="{FF2B5EF4-FFF2-40B4-BE49-F238E27FC236}">
                <a16:creationId xmlns:a16="http://schemas.microsoft.com/office/drawing/2014/main" id="{5FB79AA6-9929-A46A-FD4E-077BACCEC9E9}"/>
              </a:ext>
            </a:extLst>
          </p:cNvPr>
          <p:cNvGrpSpPr/>
          <p:nvPr/>
        </p:nvGrpSpPr>
        <p:grpSpPr>
          <a:xfrm>
            <a:off x="467773" y="1924733"/>
            <a:ext cx="5157953" cy="1342039"/>
            <a:chOff x="120391" y="1947145"/>
            <a:chExt cx="5157953" cy="1342039"/>
          </a:xfrm>
        </p:grpSpPr>
        <p:sp>
          <p:nvSpPr>
            <p:cNvPr id="10" name="Rectangle 9">
              <a:extLst>
                <a:ext uri="{FF2B5EF4-FFF2-40B4-BE49-F238E27FC236}">
                  <a16:creationId xmlns:a16="http://schemas.microsoft.com/office/drawing/2014/main" id="{056976EE-7BF3-4ECD-9DEE-B7B48933C106}"/>
                </a:ext>
              </a:extLst>
            </p:cNvPr>
            <p:cNvSpPr/>
            <p:nvPr/>
          </p:nvSpPr>
          <p:spPr>
            <a:xfrm>
              <a:off x="120391" y="1947145"/>
              <a:ext cx="4757209" cy="1342039"/>
            </a:xfrm>
            <a:prstGeom prst="rect">
              <a:avLst/>
            </a:prstGeom>
            <a:solidFill>
              <a:schemeClr val="accent3">
                <a:lumMod val="40000"/>
                <a:lumOff val="6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002E1099-ADD5-6646-5DBE-F1DE8E2359BD}"/>
                </a:ext>
              </a:extLst>
            </p:cNvPr>
            <p:cNvSpPr txBox="1"/>
            <p:nvPr/>
          </p:nvSpPr>
          <p:spPr>
            <a:xfrm>
              <a:off x="308020" y="2156141"/>
              <a:ext cx="497032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ea typeface="+mn-lt"/>
                  <a:cs typeface="+mn-lt"/>
                </a:rPr>
                <a:t>Target variable</a:t>
              </a:r>
              <a:endParaRPr lang="en-US">
                <a:ea typeface="+mn-lt"/>
                <a:cs typeface="+mn-lt"/>
              </a:endParaRPr>
            </a:p>
            <a:p>
              <a:r>
                <a:rPr lang="en-GB">
                  <a:ea typeface="+mn-lt"/>
                  <a:cs typeface="+mn-lt"/>
                </a:rPr>
                <a:t> </a:t>
              </a:r>
              <a:r>
                <a:rPr lang="en-GB" err="1">
                  <a:ea typeface="+mn-lt"/>
                  <a:cs typeface="+mn-lt"/>
                </a:rPr>
                <a:t>cycle_time_days</a:t>
              </a:r>
              <a:r>
                <a:rPr lang="en-GB">
                  <a:ea typeface="+mn-lt"/>
                  <a:cs typeface="+mn-lt"/>
                </a:rPr>
                <a:t> = (</a:t>
              </a:r>
              <a:r>
                <a:rPr lang="en-GB" err="1">
                  <a:ea typeface="+mn-lt"/>
                  <a:cs typeface="+mn-lt"/>
                </a:rPr>
                <a:t>kit_end</a:t>
              </a:r>
              <a:r>
                <a:rPr lang="en-GB">
                  <a:ea typeface="+mn-lt"/>
                  <a:cs typeface="+mn-lt"/>
                </a:rPr>
                <a:t> − </a:t>
              </a:r>
              <a:r>
                <a:rPr lang="en-GB" err="1">
                  <a:ea typeface="+mn-lt"/>
                  <a:cs typeface="+mn-lt"/>
                </a:rPr>
                <a:t>kit_start</a:t>
              </a:r>
              <a:r>
                <a:rPr lang="en-GB">
                  <a:ea typeface="+mn-lt"/>
                  <a:cs typeface="+mn-lt"/>
                </a:rPr>
                <a:t>).</a:t>
              </a:r>
              <a:r>
                <a:rPr lang="en-GB" err="1">
                  <a:ea typeface="+mn-lt"/>
                  <a:cs typeface="+mn-lt"/>
                </a:rPr>
                <a:t>dt.days</a:t>
              </a:r>
              <a:r>
                <a:rPr lang="en-GB">
                  <a:ea typeface="+mn-lt"/>
                  <a:cs typeface="+mn-lt"/>
                </a:rPr>
                <a:t> </a:t>
              </a:r>
              <a:r>
                <a:rPr lang="en-GB" i="1">
                  <a:ea typeface="+mn-lt"/>
                  <a:cs typeface="+mn-lt"/>
                </a:rPr>
                <a:t>(capped at 6 days)</a:t>
              </a:r>
              <a:endParaRPr lang="en-US"/>
            </a:p>
          </p:txBody>
        </p:sp>
      </p:grpSp>
    </p:spTree>
    <p:extLst>
      <p:ext uri="{BB962C8B-B14F-4D97-AF65-F5344CB8AC3E}">
        <p14:creationId xmlns:p14="http://schemas.microsoft.com/office/powerpoint/2010/main" val="988053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C8124C-6FAF-3B65-291F-08D57BD35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F7D03-32F2-A3EB-6F00-86A6DF2FF018}"/>
              </a:ext>
            </a:extLst>
          </p:cNvPr>
          <p:cNvSpPr>
            <a:spLocks noGrp="1"/>
          </p:cNvSpPr>
          <p:nvPr>
            <p:ph type="title"/>
          </p:nvPr>
        </p:nvSpPr>
        <p:spPr/>
        <p:txBody>
          <a:bodyPr>
            <a:normAutofit/>
          </a:bodyPr>
          <a:lstStyle/>
          <a:p>
            <a:r>
              <a:rPr lang="en-IN" b="1"/>
              <a:t>Random Forest -Implementation</a:t>
            </a:r>
          </a:p>
        </p:txBody>
      </p:sp>
      <p:sp>
        <p:nvSpPr>
          <p:cNvPr id="3" name="Content Placeholder 2">
            <a:extLst>
              <a:ext uri="{FF2B5EF4-FFF2-40B4-BE49-F238E27FC236}">
                <a16:creationId xmlns:a16="http://schemas.microsoft.com/office/drawing/2014/main" id="{975A25D9-C997-71FA-A7BA-98760BCB9B68}"/>
              </a:ext>
            </a:extLst>
          </p:cNvPr>
          <p:cNvSpPr>
            <a:spLocks noGrp="1"/>
          </p:cNvSpPr>
          <p:nvPr>
            <p:ph idx="1"/>
          </p:nvPr>
        </p:nvSpPr>
        <p:spPr>
          <a:xfrm>
            <a:off x="6335805" y="2180496"/>
            <a:ext cx="5275001" cy="4045683"/>
          </a:xfrm>
        </p:spPr>
        <p:txBody>
          <a:bodyPr>
            <a:normAutofit/>
          </a:bodyPr>
          <a:lstStyle/>
          <a:p>
            <a:pPr marL="305435" indent="-305435"/>
            <a:endParaRPr lang="en-IN" sz="1700" b="1"/>
          </a:p>
          <a:p>
            <a:endParaRPr lang="en-IN" sz="1700"/>
          </a:p>
        </p:txBody>
      </p:sp>
      <p:sp>
        <p:nvSpPr>
          <p:cNvPr id="5" name="TextBox 4">
            <a:extLst>
              <a:ext uri="{FF2B5EF4-FFF2-40B4-BE49-F238E27FC236}">
                <a16:creationId xmlns:a16="http://schemas.microsoft.com/office/drawing/2014/main" id="{5B02BEF7-FAC2-5CD1-84F2-96D6CD7637CE}"/>
              </a:ext>
            </a:extLst>
          </p:cNvPr>
          <p:cNvSpPr txBox="1"/>
          <p:nvPr/>
        </p:nvSpPr>
        <p:spPr>
          <a:xfrm>
            <a:off x="1780181" y="1847503"/>
            <a:ext cx="910895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Time based dataset split preserves temporal order and avoids data leak compared to random split</a:t>
            </a:r>
            <a:endParaRPr lang="en-US"/>
          </a:p>
        </p:txBody>
      </p:sp>
      <p:pic>
        <p:nvPicPr>
          <p:cNvPr id="6" name="Picture 5" descr="A blue rectangular object with black text&#10;&#10;AI-generated content may be incorrect.">
            <a:extLst>
              <a:ext uri="{FF2B5EF4-FFF2-40B4-BE49-F238E27FC236}">
                <a16:creationId xmlns:a16="http://schemas.microsoft.com/office/drawing/2014/main" id="{AC94C4C7-2700-5C30-2B9D-2752AE4F8D0E}"/>
              </a:ext>
            </a:extLst>
          </p:cNvPr>
          <p:cNvPicPr>
            <a:picLocks noChangeAspect="1"/>
          </p:cNvPicPr>
          <p:nvPr/>
        </p:nvPicPr>
        <p:blipFill>
          <a:blip r:embed="rId3"/>
          <a:srcRect l="3255" t="18055" b="13889"/>
          <a:stretch>
            <a:fillRect/>
          </a:stretch>
        </p:blipFill>
        <p:spPr>
          <a:xfrm>
            <a:off x="1514842" y="2174954"/>
            <a:ext cx="9374369" cy="1381824"/>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54A50651-EFF7-5621-99B2-C918648B2511}"/>
              </a:ext>
            </a:extLst>
          </p:cNvPr>
          <p:cNvPicPr>
            <a:picLocks noChangeAspect="1"/>
          </p:cNvPicPr>
          <p:nvPr/>
        </p:nvPicPr>
        <p:blipFill>
          <a:blip r:embed="rId4"/>
          <a:stretch>
            <a:fillRect/>
          </a:stretch>
        </p:blipFill>
        <p:spPr>
          <a:xfrm>
            <a:off x="5361049" y="3671579"/>
            <a:ext cx="6729082" cy="2828727"/>
          </a:xfrm>
          <a:prstGeom prst="rect">
            <a:avLst/>
          </a:prstGeom>
        </p:spPr>
      </p:pic>
      <p:sp>
        <p:nvSpPr>
          <p:cNvPr id="10" name="TextBox 9">
            <a:extLst>
              <a:ext uri="{FF2B5EF4-FFF2-40B4-BE49-F238E27FC236}">
                <a16:creationId xmlns:a16="http://schemas.microsoft.com/office/drawing/2014/main" id="{5C3FF8B4-4070-7CF2-0F10-AAF3F3357FAD}"/>
              </a:ext>
            </a:extLst>
          </p:cNvPr>
          <p:cNvSpPr txBox="1"/>
          <p:nvPr/>
        </p:nvSpPr>
        <p:spPr>
          <a:xfrm>
            <a:off x="5363439" y="6492288"/>
            <a:ext cx="684665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Random Forest parameters used after hyperparameter tuning</a:t>
            </a:r>
          </a:p>
        </p:txBody>
      </p:sp>
      <p:sp>
        <p:nvSpPr>
          <p:cNvPr id="11" name="TextBox 10">
            <a:extLst>
              <a:ext uri="{FF2B5EF4-FFF2-40B4-BE49-F238E27FC236}">
                <a16:creationId xmlns:a16="http://schemas.microsoft.com/office/drawing/2014/main" id="{E1375497-C513-7635-76A6-AB2D4D2BE8FB}"/>
              </a:ext>
            </a:extLst>
          </p:cNvPr>
          <p:cNvSpPr txBox="1"/>
          <p:nvPr/>
        </p:nvSpPr>
        <p:spPr>
          <a:xfrm>
            <a:off x="392206" y="4045324"/>
            <a:ext cx="461682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800" b="1" baseline="0">
                <a:latin typeface="Gill Sans MT"/>
                <a:ea typeface="Segoe UI"/>
                <a:cs typeface="Segoe UI"/>
              </a:rPr>
              <a:t>Why Random Forest? </a:t>
            </a:r>
            <a:r>
              <a:rPr lang="en-US" sz="1800">
                <a:latin typeface="Gill Sans MT"/>
                <a:ea typeface="Segoe UI"/>
                <a:cs typeface="Segoe UI"/>
              </a:rPr>
              <a:t>​</a:t>
            </a:r>
          </a:p>
          <a:p>
            <a:pPr marL="285750" lvl="0" indent="-285750" rtl="0">
              <a:buFont typeface="Arial,Sans-Serif"/>
              <a:buChar char="•"/>
            </a:pPr>
            <a:r>
              <a:rPr lang="en-US" sz="1800" baseline="0">
                <a:latin typeface="Gill Sans MT"/>
                <a:ea typeface="Arial"/>
                <a:cs typeface="Arial"/>
              </a:rPr>
              <a:t>Handles mixed feature types without scaling </a:t>
            </a:r>
            <a:r>
              <a:rPr lang="en-US" sz="1800">
                <a:latin typeface="Gill Sans MT"/>
                <a:ea typeface="Arial"/>
                <a:cs typeface="Arial"/>
              </a:rPr>
              <a:t>​</a:t>
            </a:r>
          </a:p>
          <a:p>
            <a:pPr marL="285750" lvl="0" indent="-285750" rtl="0">
              <a:buFont typeface="Arial,Sans-Serif"/>
              <a:buChar char="•"/>
            </a:pPr>
            <a:r>
              <a:rPr lang="en-US" sz="1800" baseline="0">
                <a:latin typeface="Gill Sans MT"/>
                <a:ea typeface="Arial"/>
                <a:cs typeface="Arial"/>
              </a:rPr>
              <a:t>Robust to outliers </a:t>
            </a:r>
            <a:r>
              <a:rPr lang="en-US" sz="1800">
                <a:latin typeface="Gill Sans MT"/>
                <a:ea typeface="Arial"/>
                <a:cs typeface="Arial"/>
              </a:rPr>
              <a:t>​</a:t>
            </a:r>
          </a:p>
          <a:p>
            <a:pPr marL="285750" lvl="0" indent="-285750" rtl="0">
              <a:buFont typeface="Arial,Sans-Serif"/>
              <a:buChar char="•"/>
            </a:pPr>
            <a:r>
              <a:rPr lang="en-US" sz="1800" baseline="0">
                <a:latin typeface="Gill Sans MT"/>
                <a:ea typeface="Arial"/>
                <a:cs typeface="Arial"/>
              </a:rPr>
              <a:t>Captures non-linear relationships </a:t>
            </a:r>
            <a:r>
              <a:rPr lang="en-US" sz="1800">
                <a:latin typeface="Gill Sans MT"/>
                <a:ea typeface="Arial"/>
                <a:cs typeface="Arial"/>
              </a:rPr>
              <a:t>​</a:t>
            </a:r>
          </a:p>
          <a:p>
            <a:pPr marL="285750" lvl="0" indent="-285750" rtl="0">
              <a:buFont typeface="Arial,Sans-Serif"/>
              <a:buChar char="•"/>
            </a:pPr>
            <a:r>
              <a:rPr lang="en-US" sz="1800" baseline="0">
                <a:latin typeface="Gill Sans MT"/>
                <a:ea typeface="Arial"/>
                <a:cs typeface="Arial"/>
              </a:rPr>
              <a:t>Provides feature importance</a:t>
            </a:r>
          </a:p>
          <a:p>
            <a:pPr algn="ctr"/>
            <a:endParaRPr lang="en-GB"/>
          </a:p>
        </p:txBody>
      </p:sp>
    </p:spTree>
    <p:extLst>
      <p:ext uri="{BB962C8B-B14F-4D97-AF65-F5344CB8AC3E}">
        <p14:creationId xmlns:p14="http://schemas.microsoft.com/office/powerpoint/2010/main" val="368114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9F0ED2-E278-3AE6-D73D-BC22408DE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31DE6B-6094-7712-7A35-BF6A6CE254C9}"/>
              </a:ext>
            </a:extLst>
          </p:cNvPr>
          <p:cNvSpPr>
            <a:spLocks noGrp="1"/>
          </p:cNvSpPr>
          <p:nvPr>
            <p:ph type="title"/>
          </p:nvPr>
        </p:nvSpPr>
        <p:spPr/>
        <p:txBody>
          <a:bodyPr>
            <a:normAutofit/>
          </a:bodyPr>
          <a:lstStyle/>
          <a:p>
            <a:r>
              <a:rPr lang="en-IN" b="1"/>
              <a:t>Random Forest –Evaluation and Feature importance</a:t>
            </a:r>
          </a:p>
        </p:txBody>
      </p:sp>
      <p:sp>
        <p:nvSpPr>
          <p:cNvPr id="3" name="Content Placeholder 2">
            <a:extLst>
              <a:ext uri="{FF2B5EF4-FFF2-40B4-BE49-F238E27FC236}">
                <a16:creationId xmlns:a16="http://schemas.microsoft.com/office/drawing/2014/main" id="{9D9EF708-51F1-BC57-0511-622765FE2695}"/>
              </a:ext>
            </a:extLst>
          </p:cNvPr>
          <p:cNvSpPr>
            <a:spLocks noGrp="1"/>
          </p:cNvSpPr>
          <p:nvPr>
            <p:ph idx="1"/>
          </p:nvPr>
        </p:nvSpPr>
        <p:spPr>
          <a:xfrm>
            <a:off x="6335805" y="2180496"/>
            <a:ext cx="5275001" cy="4045683"/>
          </a:xfrm>
        </p:spPr>
        <p:txBody>
          <a:bodyPr>
            <a:normAutofit/>
          </a:bodyPr>
          <a:lstStyle/>
          <a:p>
            <a:pPr marL="305435" indent="-305435"/>
            <a:endParaRPr lang="en-IN" sz="1700" b="1"/>
          </a:p>
          <a:p>
            <a:endParaRPr lang="en-IN" sz="1700"/>
          </a:p>
        </p:txBody>
      </p:sp>
      <p:pic>
        <p:nvPicPr>
          <p:cNvPr id="7" name="Picture 6" descr="A graph with blue and white bars&#10;&#10;AI-generated content may be incorrect.">
            <a:extLst>
              <a:ext uri="{FF2B5EF4-FFF2-40B4-BE49-F238E27FC236}">
                <a16:creationId xmlns:a16="http://schemas.microsoft.com/office/drawing/2014/main" id="{B191E632-1210-FCE4-80D3-02CE7F7E37E7}"/>
              </a:ext>
            </a:extLst>
          </p:cNvPr>
          <p:cNvPicPr>
            <a:picLocks noChangeAspect="1"/>
          </p:cNvPicPr>
          <p:nvPr/>
        </p:nvPicPr>
        <p:blipFill>
          <a:blip r:embed="rId3"/>
          <a:stretch>
            <a:fillRect/>
          </a:stretch>
        </p:blipFill>
        <p:spPr>
          <a:xfrm>
            <a:off x="6024386" y="1961444"/>
            <a:ext cx="5667728" cy="4727223"/>
          </a:xfrm>
          <a:prstGeom prst="rect">
            <a:avLst/>
          </a:prstGeom>
        </p:spPr>
      </p:pic>
      <p:sp>
        <p:nvSpPr>
          <p:cNvPr id="8" name="TextBox 7">
            <a:extLst>
              <a:ext uri="{FF2B5EF4-FFF2-40B4-BE49-F238E27FC236}">
                <a16:creationId xmlns:a16="http://schemas.microsoft.com/office/drawing/2014/main" id="{E09A69C3-CCAF-F0D3-0910-B2EA5B57166A}"/>
              </a:ext>
            </a:extLst>
          </p:cNvPr>
          <p:cNvSpPr txBox="1"/>
          <p:nvPr/>
        </p:nvSpPr>
        <p:spPr>
          <a:xfrm>
            <a:off x="461041" y="1961060"/>
            <a:ext cx="5178625" cy="2031325"/>
          </a:xfrm>
          <a:prstGeom prst="rect">
            <a:avLst/>
          </a:prstGeom>
          <a:solidFill>
            <a:schemeClr val="accent3">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Mean Absolute Error (MAE)</a:t>
            </a:r>
          </a:p>
          <a:p>
            <a:endParaRPr lang="en-US" b="1"/>
          </a:p>
          <a:p>
            <a:r>
              <a:rPr lang="en-US" b="1"/>
              <a:t>0.7512 days</a:t>
            </a:r>
          </a:p>
          <a:p>
            <a:endParaRPr lang="en-US"/>
          </a:p>
          <a:p>
            <a:r>
              <a:rPr lang="en-US">
                <a:ea typeface="+mn-lt"/>
                <a:cs typeface="+mn-lt"/>
              </a:rPr>
              <a:t>On average, the model’s predictions deviate by approximately 18 hours, indicating solid accuracy for daily cycle time forecasting.</a:t>
            </a:r>
            <a:endParaRPr lang="en-US"/>
          </a:p>
        </p:txBody>
      </p:sp>
      <p:sp>
        <p:nvSpPr>
          <p:cNvPr id="9" name="TextBox 8">
            <a:extLst>
              <a:ext uri="{FF2B5EF4-FFF2-40B4-BE49-F238E27FC236}">
                <a16:creationId xmlns:a16="http://schemas.microsoft.com/office/drawing/2014/main" id="{97E7BE93-D193-EBD2-8FA5-DABF89F277CC}"/>
              </a:ext>
            </a:extLst>
          </p:cNvPr>
          <p:cNvSpPr txBox="1"/>
          <p:nvPr/>
        </p:nvSpPr>
        <p:spPr>
          <a:xfrm>
            <a:off x="461041" y="4204726"/>
            <a:ext cx="5178626" cy="2031325"/>
          </a:xfrm>
          <a:prstGeom prst="rect">
            <a:avLst/>
          </a:prstGeom>
          <a:solidFill>
            <a:schemeClr val="accent3">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Root Mean Squared Error (RMSE)</a:t>
            </a:r>
          </a:p>
          <a:p>
            <a:endParaRPr lang="en-US" b="1"/>
          </a:p>
          <a:p>
            <a:r>
              <a:rPr lang="en-US" b="1"/>
              <a:t>1.1947 days</a:t>
            </a:r>
          </a:p>
          <a:p>
            <a:endParaRPr lang="en-US"/>
          </a:p>
          <a:p>
            <a:r>
              <a:rPr lang="en-US">
                <a:ea typeface="+mn-lt"/>
                <a:cs typeface="+mn-lt"/>
              </a:rPr>
              <a:t>The gap between RMSE and MAE (0.44) suggests that a small subset of orders experiences relatively higher prediction errors.</a:t>
            </a:r>
            <a:endParaRPr lang="en-US"/>
          </a:p>
        </p:txBody>
      </p:sp>
    </p:spTree>
    <p:extLst>
      <p:ext uri="{BB962C8B-B14F-4D97-AF65-F5344CB8AC3E}">
        <p14:creationId xmlns:p14="http://schemas.microsoft.com/office/powerpoint/2010/main" val="764478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1C97E5-76CD-E4C2-D82C-89C87C8EC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69FE4-054A-9A67-A44D-423961CB1374}"/>
              </a:ext>
            </a:extLst>
          </p:cNvPr>
          <p:cNvSpPr>
            <a:spLocks noGrp="1"/>
          </p:cNvSpPr>
          <p:nvPr>
            <p:ph type="title"/>
          </p:nvPr>
        </p:nvSpPr>
        <p:spPr/>
        <p:txBody>
          <a:bodyPr>
            <a:normAutofit/>
          </a:bodyPr>
          <a:lstStyle/>
          <a:p>
            <a:r>
              <a:rPr lang="en-IN" b="1"/>
              <a:t>Random Forest – Prediction</a:t>
            </a:r>
          </a:p>
        </p:txBody>
      </p:sp>
      <p:sp>
        <p:nvSpPr>
          <p:cNvPr id="3" name="Content Placeholder 2">
            <a:extLst>
              <a:ext uri="{FF2B5EF4-FFF2-40B4-BE49-F238E27FC236}">
                <a16:creationId xmlns:a16="http://schemas.microsoft.com/office/drawing/2014/main" id="{2FFA70A7-B034-1315-AFDD-144A6FB83C90}"/>
              </a:ext>
            </a:extLst>
          </p:cNvPr>
          <p:cNvSpPr>
            <a:spLocks noGrp="1"/>
          </p:cNvSpPr>
          <p:nvPr>
            <p:ph idx="1"/>
          </p:nvPr>
        </p:nvSpPr>
        <p:spPr>
          <a:xfrm>
            <a:off x="6335805" y="2180496"/>
            <a:ext cx="5275001" cy="4045683"/>
          </a:xfrm>
        </p:spPr>
        <p:txBody>
          <a:bodyPr>
            <a:normAutofit/>
          </a:bodyPr>
          <a:lstStyle/>
          <a:p>
            <a:pPr marL="305435" indent="-305435"/>
            <a:endParaRPr lang="en-IN" sz="1700" b="1"/>
          </a:p>
          <a:p>
            <a:endParaRPr lang="en-IN" sz="1700"/>
          </a:p>
        </p:txBody>
      </p:sp>
      <p:sp>
        <p:nvSpPr>
          <p:cNvPr id="7" name="TextBox 6">
            <a:extLst>
              <a:ext uri="{FF2B5EF4-FFF2-40B4-BE49-F238E27FC236}">
                <a16:creationId xmlns:a16="http://schemas.microsoft.com/office/drawing/2014/main" id="{1CE1A91B-7A56-A225-B25F-9C148F0C3A39}"/>
              </a:ext>
            </a:extLst>
          </p:cNvPr>
          <p:cNvSpPr txBox="1"/>
          <p:nvPr/>
        </p:nvSpPr>
        <p:spPr>
          <a:xfrm>
            <a:off x="348817" y="1910432"/>
            <a:ext cx="107018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Final model retrained on full dataset. Predictions are output as a NumPy array.</a:t>
            </a:r>
          </a:p>
        </p:txBody>
      </p:sp>
      <p:pic>
        <p:nvPicPr>
          <p:cNvPr id="9" name="Picture 8" descr="A graph of a number of blue bars&#10;&#10;AI-generated content may be incorrect.">
            <a:extLst>
              <a:ext uri="{FF2B5EF4-FFF2-40B4-BE49-F238E27FC236}">
                <a16:creationId xmlns:a16="http://schemas.microsoft.com/office/drawing/2014/main" id="{35D53B71-5296-C068-AB01-A22976F0AB8E}"/>
              </a:ext>
            </a:extLst>
          </p:cNvPr>
          <p:cNvPicPr>
            <a:picLocks noChangeAspect="1"/>
          </p:cNvPicPr>
          <p:nvPr/>
        </p:nvPicPr>
        <p:blipFill>
          <a:blip r:embed="rId3"/>
          <a:stretch>
            <a:fillRect/>
          </a:stretch>
        </p:blipFill>
        <p:spPr>
          <a:xfrm>
            <a:off x="262467" y="2440869"/>
            <a:ext cx="4689123" cy="425520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43D49471-AF1F-22C4-1BC0-C46CD3CCE658}"/>
              </a:ext>
            </a:extLst>
          </p:cNvPr>
          <p:cNvPicPr>
            <a:picLocks noChangeAspect="1"/>
          </p:cNvPicPr>
          <p:nvPr/>
        </p:nvPicPr>
        <p:blipFill>
          <a:blip r:embed="rId4"/>
          <a:srcRect t="64" r="1111" b="293"/>
          <a:stretch>
            <a:fillRect/>
          </a:stretch>
        </p:blipFill>
        <p:spPr>
          <a:xfrm>
            <a:off x="6948970" y="2440305"/>
            <a:ext cx="4401543" cy="2395234"/>
          </a:xfrm>
          <a:prstGeom prst="rect">
            <a:avLst/>
          </a:prstGeom>
        </p:spPr>
      </p:pic>
      <p:pic>
        <p:nvPicPr>
          <p:cNvPr id="12" name="Picture 11" descr="A white background with black text&#10;&#10;AI-generated content may be incorrect.">
            <a:extLst>
              <a:ext uri="{FF2B5EF4-FFF2-40B4-BE49-F238E27FC236}">
                <a16:creationId xmlns:a16="http://schemas.microsoft.com/office/drawing/2014/main" id="{9923B978-5E7D-FA2F-8C88-000C7E50F5B3}"/>
              </a:ext>
            </a:extLst>
          </p:cNvPr>
          <p:cNvPicPr>
            <a:picLocks noChangeAspect="1"/>
          </p:cNvPicPr>
          <p:nvPr/>
        </p:nvPicPr>
        <p:blipFill>
          <a:blip r:embed="rId5"/>
          <a:stretch>
            <a:fillRect/>
          </a:stretch>
        </p:blipFill>
        <p:spPr>
          <a:xfrm>
            <a:off x="5462010" y="5077499"/>
            <a:ext cx="6548100" cy="1351972"/>
          </a:xfrm>
          <a:prstGeom prst="rect">
            <a:avLst/>
          </a:prstGeom>
        </p:spPr>
      </p:pic>
      <p:sp>
        <p:nvSpPr>
          <p:cNvPr id="15" name="TextBox 14">
            <a:extLst>
              <a:ext uri="{FF2B5EF4-FFF2-40B4-BE49-F238E27FC236}">
                <a16:creationId xmlns:a16="http://schemas.microsoft.com/office/drawing/2014/main" id="{B7E53E63-07AF-B868-91A3-5BF83EAF7AC0}"/>
              </a:ext>
            </a:extLst>
          </p:cNvPr>
          <p:cNvSpPr txBox="1"/>
          <p:nvPr/>
        </p:nvSpPr>
        <p:spPr>
          <a:xfrm>
            <a:off x="6741622" y="6422085"/>
            <a:ext cx="51985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Sample prediction on the first 5 orders</a:t>
            </a:r>
          </a:p>
        </p:txBody>
      </p:sp>
    </p:spTree>
    <p:extLst>
      <p:ext uri="{BB962C8B-B14F-4D97-AF65-F5344CB8AC3E}">
        <p14:creationId xmlns:p14="http://schemas.microsoft.com/office/powerpoint/2010/main" val="901202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06CE7E-D96F-F787-FAB1-1CB77C7BFB0F}"/>
            </a:ext>
          </a:extLst>
        </p:cNvPr>
        <p:cNvGrpSpPr/>
        <p:nvPr/>
      </p:nvGrpSpPr>
      <p:grpSpPr>
        <a:xfrm>
          <a:off x="0" y="0"/>
          <a:ext cx="0" cy="0"/>
          <a:chOff x="0" y="0"/>
          <a:chExt cx="0" cy="0"/>
        </a:xfrm>
      </p:grpSpPr>
      <p:sp>
        <p:nvSpPr>
          <p:cNvPr id="68" name="Rectangle 67">
            <a:extLst>
              <a:ext uri="{FF2B5EF4-FFF2-40B4-BE49-F238E27FC236}">
                <a16:creationId xmlns:a16="http://schemas.microsoft.com/office/drawing/2014/main" id="{0DBD4729-DBDF-40A6-9BA4-E4C97EF6D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70" name="Rectangle 69">
            <a:extLst>
              <a:ext uri="{FF2B5EF4-FFF2-40B4-BE49-F238E27FC236}">
                <a16:creationId xmlns:a16="http://schemas.microsoft.com/office/drawing/2014/main" id="{55125130-F4AB-465E-8AE2-E583FCAAB2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72" name="Rectangle 71">
            <a:extLst>
              <a:ext uri="{FF2B5EF4-FFF2-40B4-BE49-F238E27FC236}">
                <a16:creationId xmlns:a16="http://schemas.microsoft.com/office/drawing/2014/main" id="{E0BA65A2-0302-4468-ADA7-9EC3F9593F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74" name="Rectangle 73">
            <a:extLst>
              <a:ext uri="{FF2B5EF4-FFF2-40B4-BE49-F238E27FC236}">
                <a16:creationId xmlns:a16="http://schemas.microsoft.com/office/drawing/2014/main" id="{0F161291-765C-4033-9E84-52C51C6A5A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37F69638-8A6F-45AB-B9EC-9D8C8FC37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Content Placeholder 30">
            <a:extLst>
              <a:ext uri="{FF2B5EF4-FFF2-40B4-BE49-F238E27FC236}">
                <a16:creationId xmlns:a16="http://schemas.microsoft.com/office/drawing/2014/main" id="{403F4313-D511-A241-3345-C7BD8132BB0E}"/>
              </a:ext>
            </a:extLst>
          </p:cNvPr>
          <p:cNvPicPr>
            <a:picLocks noChangeAspect="1"/>
          </p:cNvPicPr>
          <p:nvPr/>
        </p:nvPicPr>
        <p:blipFill>
          <a:blip r:embed="rId3"/>
          <a:srcRect l="-173" t="928" r="173" b="3323"/>
          <a:stretch>
            <a:fillRect/>
          </a:stretch>
        </p:blipFill>
        <p:spPr>
          <a:xfrm>
            <a:off x="1288981" y="505598"/>
            <a:ext cx="9260653" cy="5891754"/>
          </a:xfrm>
          <a:prstGeom prst="rect">
            <a:avLst/>
          </a:prstGeom>
        </p:spPr>
      </p:pic>
    </p:spTree>
    <p:extLst>
      <p:ext uri="{BB962C8B-B14F-4D97-AF65-F5344CB8AC3E}">
        <p14:creationId xmlns:p14="http://schemas.microsoft.com/office/powerpoint/2010/main" val="564048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BD8CBF-1782-456F-AF12-36CD021CC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Magnifying glass showing decling performance">
            <a:extLst>
              <a:ext uri="{FF2B5EF4-FFF2-40B4-BE49-F238E27FC236}">
                <a16:creationId xmlns:a16="http://schemas.microsoft.com/office/drawing/2014/main" id="{72ACD067-A711-ED10-85B3-64138A795155}"/>
              </a:ext>
            </a:extLst>
          </p:cNvPr>
          <p:cNvPicPr>
            <a:picLocks noChangeAspect="1"/>
          </p:cNvPicPr>
          <p:nvPr/>
        </p:nvPicPr>
        <p:blipFill>
          <a:blip r:embed="rId3">
            <a:duotone>
              <a:schemeClr val="bg2">
                <a:shade val="45000"/>
                <a:satMod val="135000"/>
              </a:schemeClr>
              <a:prstClr val="white"/>
            </a:duotone>
            <a:alphaModFix amt="35000"/>
          </a:blip>
          <a:srcRect t="431" r="-2" b="15172"/>
          <a:stretch>
            <a:fillRect/>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18A186C0-DD3C-4FF4-B165-943244CBD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F54CF8A6-26C6-D0D3-EA5C-B959B9DB5878}"/>
              </a:ext>
            </a:extLst>
          </p:cNvPr>
          <p:cNvSpPr>
            <a:spLocks noGrp="1"/>
          </p:cNvSpPr>
          <p:nvPr>
            <p:ph type="title"/>
          </p:nvPr>
        </p:nvSpPr>
        <p:spPr>
          <a:xfrm>
            <a:off x="581192" y="702156"/>
            <a:ext cx="11029616" cy="1013800"/>
          </a:xfrm>
        </p:spPr>
        <p:txBody>
          <a:bodyPr>
            <a:normAutofit/>
          </a:bodyPr>
          <a:lstStyle/>
          <a:p>
            <a:r>
              <a:rPr lang="en-IN" b="1"/>
              <a:t>KEY Insights</a:t>
            </a:r>
            <a:endParaRPr lang="en-IN"/>
          </a:p>
        </p:txBody>
      </p:sp>
      <p:grpSp>
        <p:nvGrpSpPr>
          <p:cNvPr id="18" name="Group 17">
            <a:extLst>
              <a:ext uri="{FF2B5EF4-FFF2-40B4-BE49-F238E27FC236}">
                <a16:creationId xmlns:a16="http://schemas.microsoft.com/office/drawing/2014/main" id="{7E6B15A5-F4B5-4786-934F-E57C7FA302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9" name="Rectangle 18">
              <a:extLst>
                <a:ext uri="{FF2B5EF4-FFF2-40B4-BE49-F238E27FC236}">
                  <a16:creationId xmlns:a16="http://schemas.microsoft.com/office/drawing/2014/main" id="{64C8356C-9FE6-4DFB-8DBF-FDC1EE310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5DDAF1C0-5210-43EC-A140-4032C6EBE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71A89CEF-B8CB-4CA8-BD58-AE4392F25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8" name="Rectangle 1">
            <a:extLst>
              <a:ext uri="{FF2B5EF4-FFF2-40B4-BE49-F238E27FC236}">
                <a16:creationId xmlns:a16="http://schemas.microsoft.com/office/drawing/2014/main" id="{489039F9-5ED2-196E-2061-35E9C617BD77}"/>
              </a:ext>
            </a:extLst>
          </p:cNvPr>
          <p:cNvSpPr>
            <a:spLocks noGrp="1" noChangeArrowheads="1"/>
          </p:cNvSpPr>
          <p:nvPr>
            <p:ph idx="1"/>
          </p:nvPr>
        </p:nvSpPr>
        <p:spPr bwMode="auto">
          <a:xfrm>
            <a:off x="581192" y="2180496"/>
            <a:ext cx="11029615" cy="36783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305435" indent="-305435">
              <a:lnSpc>
                <a:spcPct val="90000"/>
              </a:lnSpc>
            </a:pPr>
            <a:r>
              <a:rPr lang="en-US">
                <a:ea typeface="+mn-lt"/>
                <a:cs typeface="+mn-lt"/>
              </a:rPr>
              <a:t>Capacity (</a:t>
            </a:r>
            <a:r>
              <a:rPr lang="en-US" err="1">
                <a:ea typeface="+mn-lt"/>
                <a:cs typeface="+mn-lt"/>
              </a:rPr>
              <a:t>total_capacity_hours</a:t>
            </a:r>
            <a:r>
              <a:rPr lang="en-US">
                <a:ea typeface="+mn-lt"/>
                <a:cs typeface="+mn-lt"/>
              </a:rPr>
              <a:t> and </a:t>
            </a:r>
            <a:r>
              <a:rPr lang="en-US" err="1">
                <a:ea typeface="+mn-lt"/>
                <a:cs typeface="+mn-lt"/>
              </a:rPr>
              <a:t>capacity_utilization</a:t>
            </a:r>
            <a:r>
              <a:rPr lang="en-US">
                <a:ea typeface="+mn-lt"/>
                <a:cs typeface="+mn-lt"/>
              </a:rPr>
              <a:t>) is the most significant driver of cycle time, as days with lower available capacity consistently result in longer delays.</a:t>
            </a:r>
            <a:endParaRPr lang="en-US"/>
          </a:p>
          <a:p>
            <a:pPr marL="305435" indent="-305435">
              <a:lnSpc>
                <a:spcPct val="90000"/>
              </a:lnSpc>
            </a:pPr>
            <a:r>
              <a:rPr lang="en-US">
                <a:ea typeface="+mn-lt"/>
                <a:cs typeface="+mn-lt"/>
              </a:rPr>
              <a:t>Order timing (</a:t>
            </a:r>
            <a:r>
              <a:rPr lang="en-US" err="1">
                <a:ea typeface="+mn-lt"/>
                <a:cs typeface="+mn-lt"/>
              </a:rPr>
              <a:t>day_of_week</a:t>
            </a:r>
            <a:r>
              <a:rPr lang="en-US">
                <a:ea typeface="+mn-lt"/>
                <a:cs typeface="+mn-lt"/>
              </a:rPr>
              <a:t> and </a:t>
            </a:r>
            <a:r>
              <a:rPr lang="en-US" err="1">
                <a:ea typeface="+mn-lt"/>
                <a:cs typeface="+mn-lt"/>
              </a:rPr>
              <a:t>is_working_day</a:t>
            </a:r>
            <a:r>
              <a:rPr lang="en-US">
                <a:ea typeface="+mn-lt"/>
                <a:cs typeface="+mn-lt"/>
              </a:rPr>
              <a:t>) has a greater impact than product type, with orders initiated near weekends or holidays taking longer due to reduced operational capacity.</a:t>
            </a:r>
            <a:endParaRPr lang="en-US"/>
          </a:p>
          <a:p>
            <a:pPr marL="305435" indent="-305435">
              <a:lnSpc>
                <a:spcPct val="90000"/>
              </a:lnSpc>
            </a:pPr>
            <a:r>
              <a:rPr lang="en-US">
                <a:ea typeface="+mn-lt"/>
                <a:cs typeface="+mn-lt"/>
              </a:rPr>
              <a:t>End-of-quarter (EOQ) periods (</a:t>
            </a:r>
            <a:r>
              <a:rPr lang="en-US" err="1">
                <a:ea typeface="+mn-lt"/>
                <a:cs typeface="+mn-lt"/>
              </a:rPr>
              <a:t>is_eoq</a:t>
            </a:r>
            <a:r>
              <a:rPr lang="en-US">
                <a:ea typeface="+mn-lt"/>
                <a:cs typeface="+mn-lt"/>
              </a:rPr>
              <a:t>) lead to predictable increases in cycle time because of higher production demand and resource constraints.</a:t>
            </a:r>
          </a:p>
          <a:p>
            <a:pPr marL="305435" indent="-305435">
              <a:lnSpc>
                <a:spcPct val="90000"/>
              </a:lnSpc>
            </a:pPr>
            <a:r>
              <a:rPr lang="en-US">
                <a:ea typeface="+mn-lt"/>
                <a:cs typeface="+mn-lt"/>
              </a:rPr>
              <a:t>Start delay (</a:t>
            </a:r>
            <a:r>
              <a:rPr lang="en-US" err="1">
                <a:ea typeface="+mn-lt"/>
                <a:cs typeface="+mn-lt"/>
              </a:rPr>
              <a:t>download_to_kitstart_days</a:t>
            </a:r>
            <a:r>
              <a:rPr lang="en-US">
                <a:ea typeface="+mn-lt"/>
                <a:cs typeface="+mn-lt"/>
              </a:rPr>
              <a:t>) plays a critical role in efficiency. Orders downloaded earlier are better planned and completed faster.</a:t>
            </a:r>
            <a:endParaRPr lang="en-US"/>
          </a:p>
          <a:p>
            <a:pPr marL="305435" indent="-305435">
              <a:lnSpc>
                <a:spcPct val="90000"/>
              </a:lnSpc>
            </a:pPr>
            <a:r>
              <a:rPr lang="en-US">
                <a:ea typeface="+mn-lt"/>
                <a:cs typeface="+mn-lt"/>
              </a:rPr>
              <a:t>Order complexity, measured through workload, has a stronger influence on delays than order value (</a:t>
            </a:r>
            <a:r>
              <a:rPr lang="en-US" err="1">
                <a:ea typeface="+mn-lt"/>
                <a:cs typeface="+mn-lt"/>
              </a:rPr>
              <a:t>order_amt</a:t>
            </a:r>
            <a:r>
              <a:rPr lang="en-US">
                <a:ea typeface="+mn-lt"/>
                <a:cs typeface="+mn-lt"/>
              </a:rPr>
              <a:t>), indicating that effort required affects cycle time more than cost.</a:t>
            </a:r>
            <a:endParaRPr lang="en-US"/>
          </a:p>
        </p:txBody>
      </p:sp>
      <p:sp>
        <p:nvSpPr>
          <p:cNvPr id="5" name="Content Placeholder 2">
            <a:extLst>
              <a:ext uri="{FF2B5EF4-FFF2-40B4-BE49-F238E27FC236}">
                <a16:creationId xmlns:a16="http://schemas.microsoft.com/office/drawing/2014/main" id="{FA8AC82D-9781-313C-A13D-59C8D777F24B}"/>
              </a:ext>
            </a:extLst>
          </p:cNvPr>
          <p:cNvSpPr txBox="1">
            <a:spLocks/>
          </p:cNvSpPr>
          <p:nvPr/>
        </p:nvSpPr>
        <p:spPr>
          <a:xfrm>
            <a:off x="6800096" y="3035901"/>
            <a:ext cx="4925304" cy="3678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endParaRPr lang="en-IN"/>
          </a:p>
        </p:txBody>
      </p:sp>
      <p:sp>
        <p:nvSpPr>
          <p:cNvPr id="6" name="Content Placeholder 2">
            <a:extLst>
              <a:ext uri="{FF2B5EF4-FFF2-40B4-BE49-F238E27FC236}">
                <a16:creationId xmlns:a16="http://schemas.microsoft.com/office/drawing/2014/main" id="{9CFFD098-42E9-7E67-E0CA-FD870E1297FF}"/>
              </a:ext>
            </a:extLst>
          </p:cNvPr>
          <p:cNvSpPr txBox="1">
            <a:spLocks/>
          </p:cNvSpPr>
          <p:nvPr/>
        </p:nvSpPr>
        <p:spPr>
          <a:xfrm>
            <a:off x="6573954" y="3035899"/>
            <a:ext cx="4925304" cy="3678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endParaRPr lang="en-IN"/>
          </a:p>
        </p:txBody>
      </p:sp>
      <p:sp>
        <p:nvSpPr>
          <p:cNvPr id="7" name="Content Placeholder 2">
            <a:extLst>
              <a:ext uri="{FF2B5EF4-FFF2-40B4-BE49-F238E27FC236}">
                <a16:creationId xmlns:a16="http://schemas.microsoft.com/office/drawing/2014/main" id="{CA37F4DB-A4B8-97A5-C2D1-F00B691C2043}"/>
              </a:ext>
            </a:extLst>
          </p:cNvPr>
          <p:cNvSpPr txBox="1">
            <a:spLocks/>
          </p:cNvSpPr>
          <p:nvPr/>
        </p:nvSpPr>
        <p:spPr>
          <a:xfrm>
            <a:off x="6096000" y="2962158"/>
            <a:ext cx="4925304" cy="3678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endParaRPr lang="en-IN"/>
          </a:p>
        </p:txBody>
      </p:sp>
    </p:spTree>
    <p:extLst>
      <p:ext uri="{BB962C8B-B14F-4D97-AF65-F5344CB8AC3E}">
        <p14:creationId xmlns:p14="http://schemas.microsoft.com/office/powerpoint/2010/main" val="3124838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B012C1-D34C-1036-A578-890DC1FA290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ABD8CBF-1782-456F-AF12-36CD021CCC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Desk with productivity items">
            <a:extLst>
              <a:ext uri="{FF2B5EF4-FFF2-40B4-BE49-F238E27FC236}">
                <a16:creationId xmlns:a16="http://schemas.microsoft.com/office/drawing/2014/main" id="{13914896-6BD2-25EE-858A-12C22E57A9C6}"/>
              </a:ext>
            </a:extLst>
          </p:cNvPr>
          <p:cNvPicPr>
            <a:picLocks noChangeAspect="1"/>
          </p:cNvPicPr>
          <p:nvPr/>
        </p:nvPicPr>
        <p:blipFill>
          <a:blip r:embed="rId3">
            <a:duotone>
              <a:schemeClr val="bg2">
                <a:shade val="45000"/>
                <a:satMod val="135000"/>
              </a:schemeClr>
              <a:prstClr val="white"/>
            </a:duotone>
            <a:alphaModFix amt="35000"/>
          </a:blip>
          <a:srcRect r="-2" b="15603"/>
          <a:stretch>
            <a:fillRect/>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18A186C0-DD3C-4FF4-B165-943244CBD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3E5EBC16-D4AA-92A1-5580-C8CAC62A6FBB}"/>
              </a:ext>
            </a:extLst>
          </p:cNvPr>
          <p:cNvSpPr>
            <a:spLocks noGrp="1"/>
          </p:cNvSpPr>
          <p:nvPr>
            <p:ph type="title"/>
          </p:nvPr>
        </p:nvSpPr>
        <p:spPr>
          <a:xfrm>
            <a:off x="581192" y="702156"/>
            <a:ext cx="11029616" cy="1013800"/>
          </a:xfrm>
        </p:spPr>
        <p:txBody>
          <a:bodyPr>
            <a:normAutofit/>
          </a:bodyPr>
          <a:lstStyle/>
          <a:p>
            <a:r>
              <a:rPr lang="en-IN" b="1"/>
              <a:t>Strategic Recommendations</a:t>
            </a:r>
            <a:endParaRPr lang="en-IN"/>
          </a:p>
        </p:txBody>
      </p:sp>
      <p:grpSp>
        <p:nvGrpSpPr>
          <p:cNvPr id="18" name="Group 17">
            <a:extLst>
              <a:ext uri="{FF2B5EF4-FFF2-40B4-BE49-F238E27FC236}">
                <a16:creationId xmlns:a16="http://schemas.microsoft.com/office/drawing/2014/main" id="{7E6B15A5-F4B5-4786-934F-E57C7FA302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9" name="Rectangle 18">
              <a:extLst>
                <a:ext uri="{FF2B5EF4-FFF2-40B4-BE49-F238E27FC236}">
                  <a16:creationId xmlns:a16="http://schemas.microsoft.com/office/drawing/2014/main" id="{64C8356C-9FE6-4DFB-8DBF-FDC1EE310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5DDAF1C0-5210-43EC-A140-4032C6EBE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0">
              <a:extLst>
                <a:ext uri="{FF2B5EF4-FFF2-40B4-BE49-F238E27FC236}">
                  <a16:creationId xmlns:a16="http://schemas.microsoft.com/office/drawing/2014/main" id="{71A89CEF-B8CB-4CA8-BD58-AE4392F25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8" name="Rectangle 1">
            <a:extLst>
              <a:ext uri="{FF2B5EF4-FFF2-40B4-BE49-F238E27FC236}">
                <a16:creationId xmlns:a16="http://schemas.microsoft.com/office/drawing/2014/main" id="{89FC287D-B52B-4670-6014-9B9643C17B82}"/>
              </a:ext>
            </a:extLst>
          </p:cNvPr>
          <p:cNvSpPr>
            <a:spLocks noGrp="1" noChangeArrowheads="1"/>
          </p:cNvSpPr>
          <p:nvPr>
            <p:ph idx="1"/>
          </p:nvPr>
        </p:nvSpPr>
        <p:spPr bwMode="auto">
          <a:xfrm>
            <a:off x="581192" y="2180496"/>
            <a:ext cx="11029615" cy="36783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305435" indent="-305435"/>
            <a:r>
              <a:rPr lang="en-US">
                <a:ea typeface="+mn-lt"/>
                <a:cs typeface="+mn-lt"/>
              </a:rPr>
              <a:t>Schedule high-workload and complex orders on high-capacity days, avoiding Fridays, holidays, and low-capacity periods to minimize cycle time delays. </a:t>
            </a:r>
            <a:endParaRPr lang="en-US"/>
          </a:p>
          <a:p>
            <a:pPr marL="305435" indent="-305435"/>
            <a:r>
              <a:rPr lang="en-US">
                <a:ea typeface="+mn-lt"/>
                <a:cs typeface="+mn-lt"/>
              </a:rPr>
              <a:t>Allocate additional overtime capacity during the final two weeks of each quarter to proactively handle predictable end-of-quarter (EOQ) demand spikes. </a:t>
            </a:r>
            <a:endParaRPr lang="en-US"/>
          </a:p>
          <a:p>
            <a:pPr marL="305435" indent="-305435"/>
            <a:r>
              <a:rPr lang="en-US">
                <a:ea typeface="+mn-lt"/>
                <a:cs typeface="+mn-lt"/>
              </a:rPr>
              <a:t>Retrain the model every quarter using recent data to adapt to changes in product mix and factory conditions and maintain prediction accuracy. </a:t>
            </a:r>
            <a:endParaRPr lang="en-US"/>
          </a:p>
          <a:p>
            <a:pPr marL="305435" indent="-305435"/>
            <a:r>
              <a:rPr lang="en-US">
                <a:ea typeface="+mn-lt"/>
                <a:cs typeface="+mn-lt"/>
              </a:rPr>
              <a:t>Improve data completeness by filling missing product-level time estimates (approximately 24% of orders) to enhance prediction performance, especially for complex products.</a:t>
            </a:r>
          </a:p>
        </p:txBody>
      </p:sp>
      <p:sp>
        <p:nvSpPr>
          <p:cNvPr id="5" name="Content Placeholder 2">
            <a:extLst>
              <a:ext uri="{FF2B5EF4-FFF2-40B4-BE49-F238E27FC236}">
                <a16:creationId xmlns:a16="http://schemas.microsoft.com/office/drawing/2014/main" id="{A89B48D7-D636-DF24-FE61-BD94A66F7CEC}"/>
              </a:ext>
            </a:extLst>
          </p:cNvPr>
          <p:cNvSpPr txBox="1">
            <a:spLocks/>
          </p:cNvSpPr>
          <p:nvPr/>
        </p:nvSpPr>
        <p:spPr>
          <a:xfrm>
            <a:off x="6800096" y="3035901"/>
            <a:ext cx="4925304" cy="3678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endParaRPr lang="en-IN"/>
          </a:p>
        </p:txBody>
      </p:sp>
      <p:sp>
        <p:nvSpPr>
          <p:cNvPr id="6" name="Content Placeholder 2">
            <a:extLst>
              <a:ext uri="{FF2B5EF4-FFF2-40B4-BE49-F238E27FC236}">
                <a16:creationId xmlns:a16="http://schemas.microsoft.com/office/drawing/2014/main" id="{D5DB266D-B14E-E7CB-4458-0646FD8A058A}"/>
              </a:ext>
            </a:extLst>
          </p:cNvPr>
          <p:cNvSpPr txBox="1">
            <a:spLocks/>
          </p:cNvSpPr>
          <p:nvPr/>
        </p:nvSpPr>
        <p:spPr>
          <a:xfrm>
            <a:off x="6573954" y="3035899"/>
            <a:ext cx="4925304" cy="3678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endParaRPr lang="en-IN"/>
          </a:p>
        </p:txBody>
      </p:sp>
      <p:sp>
        <p:nvSpPr>
          <p:cNvPr id="7" name="Content Placeholder 2">
            <a:extLst>
              <a:ext uri="{FF2B5EF4-FFF2-40B4-BE49-F238E27FC236}">
                <a16:creationId xmlns:a16="http://schemas.microsoft.com/office/drawing/2014/main" id="{2B431EF5-8F0E-469A-BB66-D806A98ADC1C}"/>
              </a:ext>
            </a:extLst>
          </p:cNvPr>
          <p:cNvSpPr txBox="1">
            <a:spLocks/>
          </p:cNvSpPr>
          <p:nvPr/>
        </p:nvSpPr>
        <p:spPr>
          <a:xfrm>
            <a:off x="6096000" y="2962158"/>
            <a:ext cx="4925304" cy="367830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endParaRPr lang="en-IN"/>
          </a:p>
        </p:txBody>
      </p:sp>
    </p:spTree>
    <p:extLst>
      <p:ext uri="{BB962C8B-B14F-4D97-AF65-F5344CB8AC3E}">
        <p14:creationId xmlns:p14="http://schemas.microsoft.com/office/powerpoint/2010/main" val="2861431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74029-6C51-8AF6-96E5-8647D256610E}"/>
              </a:ext>
            </a:extLst>
          </p:cNvPr>
          <p:cNvSpPr>
            <a:spLocks noGrp="1"/>
          </p:cNvSpPr>
          <p:nvPr>
            <p:ph type="ctrTitle"/>
          </p:nvPr>
        </p:nvSpPr>
        <p:spPr/>
        <p:txBody>
          <a:bodyPr>
            <a:normAutofit/>
          </a:bodyPr>
          <a:lstStyle/>
          <a:p>
            <a:pPr algn="ctr"/>
            <a:r>
              <a:rPr lang="en-IN" sz="4800" b="1"/>
              <a:t>THANK YOU</a:t>
            </a:r>
          </a:p>
        </p:txBody>
      </p:sp>
    </p:spTree>
    <p:extLst>
      <p:ext uri="{BB962C8B-B14F-4D97-AF65-F5344CB8AC3E}">
        <p14:creationId xmlns:p14="http://schemas.microsoft.com/office/powerpoint/2010/main" val="336222090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Application>Microsoft Office PowerPoint</Application>
  <PresentationFormat>Widescreen</PresentationFormat>
  <Slides>14</Slides>
  <Notes>12</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Dividend</vt:lpstr>
      <vt:lpstr>Dell case study-  Kit Cycle Time Prediction Model </vt:lpstr>
      <vt:lpstr>Problem Statement and objective </vt:lpstr>
      <vt:lpstr>METHODOLOGY</vt:lpstr>
      <vt:lpstr>Data Sources</vt:lpstr>
      <vt:lpstr>PowerPoint Presentation</vt:lpstr>
      <vt:lpstr>Exploratory data analysis  </vt:lpstr>
      <vt:lpstr>Setting target variable  and FEATURE engineering  </vt:lpstr>
      <vt:lpstr>Random Forest -Implementation</vt:lpstr>
      <vt:lpstr>Random Forest –Evaluation and Feature importance</vt:lpstr>
      <vt:lpstr>Random Forest – Prediction</vt:lpstr>
      <vt:lpstr>PowerPoint Presentation</vt:lpstr>
      <vt:lpstr>KEY Insights</vt:lpstr>
      <vt:lpstr>Strategic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Maheswari Bollimuntha</dc:creator>
  <cp:revision>28</cp:revision>
  <dcterms:created xsi:type="dcterms:W3CDTF">2025-04-21T00:35:38Z</dcterms:created>
  <dcterms:modified xsi:type="dcterms:W3CDTF">2026-03-23T03:16:27Z</dcterms:modified>
</cp:coreProperties>
</file>